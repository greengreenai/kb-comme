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faf261ad8c4260" /><Relationship Type="http://schemas.openxmlformats.org/officeDocument/2006/relationships/extended-properties" Target="/docProps/app.xml" Id="R63d0eefc099e4414" /><Relationship Type="http://schemas.openxmlformats.org/officeDocument/2006/relationships/officeDocument" Target="/ppt/presentation.xml" Id="R044148ab05b349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1986b33b514b03"/>
  </p:sldMasterIdLst>
  <p:notesMasterIdLst>
    <p:notesMasterId xmlns:r="http://schemas.openxmlformats.org/officeDocument/2006/relationships" r:id="Rae01e2beaf4242dc"/>
  </p:notesMasterIdLst>
  <p:sldIdLst>
    <p:sldId xmlns:r="http://schemas.openxmlformats.org/officeDocument/2006/relationships" id="256" r:id="Re3395108099747a6"/>
    <p:sldId xmlns:r="http://schemas.openxmlformats.org/officeDocument/2006/relationships" id="257" r:id="R950e3bd21bc548dd"/>
    <p:sldId xmlns:r="http://schemas.openxmlformats.org/officeDocument/2006/relationships" id="258" r:id="R4bdafc3f87194a98"/>
    <p:sldId xmlns:r="http://schemas.openxmlformats.org/officeDocument/2006/relationships" id="259" r:id="Radd3f79420ad4b50"/>
    <p:sldId xmlns:r="http://schemas.openxmlformats.org/officeDocument/2006/relationships" id="260" r:id="R00114fdf613d4591"/>
    <p:sldId xmlns:r="http://schemas.openxmlformats.org/officeDocument/2006/relationships" id="261" r:id="Rb268f149545640c0"/>
    <p:sldId xmlns:r="http://schemas.openxmlformats.org/officeDocument/2006/relationships" id="262" r:id="R4b7496c2c0294b61"/>
    <p:sldId xmlns:r="http://schemas.openxmlformats.org/officeDocument/2006/relationships" id="263" r:id="Rb9213c36e8c24755"/>
    <p:sldId xmlns:r="http://schemas.openxmlformats.org/officeDocument/2006/relationships" id="264" r:id="Rf870c02af6904c70"/>
    <p:sldId xmlns:r="http://schemas.openxmlformats.org/officeDocument/2006/relationships" id="265" r:id="Rb49c69a903284aa1"/>
    <p:sldId xmlns:r="http://schemas.openxmlformats.org/officeDocument/2006/relationships" id="266" r:id="R76c2a231be4e403a"/>
    <p:sldId xmlns:r="http://schemas.openxmlformats.org/officeDocument/2006/relationships" id="267" r:id="R50d32463d7ec47f9"/>
    <p:sldId xmlns:r="http://schemas.openxmlformats.org/officeDocument/2006/relationships" id="268" r:id="R8c174a15a12742b2"/>
    <p:sldId xmlns:r="http://schemas.openxmlformats.org/officeDocument/2006/relationships" id="269" r:id="Rf97470a0ac55491d"/>
    <p:sldId xmlns:r="http://schemas.openxmlformats.org/officeDocument/2006/relationships" id="270" r:id="Rb9645eaef75e4a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93b3912fdf43da" /><Relationship Type="http://schemas.openxmlformats.org/officeDocument/2006/relationships/slideMaster" Target="/ppt/slideMasters/slideMaster1.xml" Id="R1d1986b33b514b03" /><Relationship Type="http://schemas.openxmlformats.org/officeDocument/2006/relationships/notesMaster" Target="/ppt/notesMasters/notesMaster1.xml" Id="Rae01e2beaf4242dc" /><Relationship Type="http://schemas.openxmlformats.org/officeDocument/2006/relationships/presProps" Target="/ppt/presProps.xml" Id="R23f49f376bec4e88" /><Relationship Type="http://schemas.openxmlformats.org/officeDocument/2006/relationships/tableStyles" Target="/ppt/tableStyles.xml" Id="R5bd2bd7eca954149" /><Relationship Type="http://schemas.openxmlformats.org/officeDocument/2006/relationships/slide" Target="/ppt/slides/slide1.xml" Id="Re3395108099747a6" /><Relationship Type="http://schemas.openxmlformats.org/officeDocument/2006/relationships/slide" Target="/ppt/slides/slide2.xml" Id="R950e3bd21bc548dd" /><Relationship Type="http://schemas.openxmlformats.org/officeDocument/2006/relationships/slide" Target="/ppt/slides/slide3.xml" Id="R4bdafc3f87194a98" /><Relationship Type="http://schemas.openxmlformats.org/officeDocument/2006/relationships/slide" Target="/ppt/slides/slide4.xml" Id="Radd3f79420ad4b50" /><Relationship Type="http://schemas.openxmlformats.org/officeDocument/2006/relationships/slide" Target="/ppt/slides/slide5.xml" Id="R00114fdf613d4591" /><Relationship Type="http://schemas.openxmlformats.org/officeDocument/2006/relationships/slide" Target="/ppt/slides/slide6.xml" Id="Rb268f149545640c0" /><Relationship Type="http://schemas.openxmlformats.org/officeDocument/2006/relationships/slide" Target="/ppt/slides/slide7.xml" Id="R4b7496c2c0294b61" /><Relationship Type="http://schemas.openxmlformats.org/officeDocument/2006/relationships/slide" Target="/ppt/slides/slide8.xml" Id="Rb9213c36e8c24755" /><Relationship Type="http://schemas.openxmlformats.org/officeDocument/2006/relationships/slide" Target="/ppt/slides/slide9.xml" Id="Rf870c02af6904c70" /><Relationship Type="http://schemas.openxmlformats.org/officeDocument/2006/relationships/slide" Target="/ppt/slides/slide10.xml" Id="Rb49c69a903284aa1" /><Relationship Type="http://schemas.openxmlformats.org/officeDocument/2006/relationships/slide" Target="/ppt/slides/slide11.xml" Id="R76c2a231be4e403a" /><Relationship Type="http://schemas.openxmlformats.org/officeDocument/2006/relationships/slide" Target="/ppt/slides/slide12.xml" Id="R50d32463d7ec47f9" /><Relationship Type="http://schemas.openxmlformats.org/officeDocument/2006/relationships/slide" Target="/ppt/slides/slide13.xml" Id="R8c174a15a12742b2" /><Relationship Type="http://schemas.openxmlformats.org/officeDocument/2006/relationships/slide" Target="/ppt/slides/slide14.xml" Id="Rf97470a0ac55491d" /><Relationship Type="http://schemas.openxmlformats.org/officeDocument/2006/relationships/slide" Target="/ppt/slides/slide15.xml" Id="Rb9645eaef75e4a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af186b2d6343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faee84f7654784" /><Relationship Type="http://schemas.openxmlformats.org/officeDocument/2006/relationships/notesMaster" Target="/ppt/notesMasters/notesMaster1.xml" Id="Rac7169d45f284b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b66e1784c64cc2" /><Relationship Type="http://schemas.openxmlformats.org/officeDocument/2006/relationships/notesMaster" Target="/ppt/notesMasters/notesMaster1.xml" Id="Rea73840c9c9f4b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564ca86446483e" /><Relationship Type="http://schemas.openxmlformats.org/officeDocument/2006/relationships/notesMaster" Target="/ppt/notesMasters/notesMaster1.xml" Id="R28737a8b2c3442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7a9d2bb8be45c9" /><Relationship Type="http://schemas.openxmlformats.org/officeDocument/2006/relationships/notesMaster" Target="/ppt/notesMasters/notesMaster1.xml" Id="R65ff7fb81f5b4f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a2400030734a8d" /><Relationship Type="http://schemas.openxmlformats.org/officeDocument/2006/relationships/notesMaster" Target="/ppt/notesMasters/notesMaster1.xml" Id="R3dcdc288d32b4f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07d8e7cc3a4c9d" /><Relationship Type="http://schemas.openxmlformats.org/officeDocument/2006/relationships/notesMaster" Target="/ppt/notesMasters/notesMaster1.xml" Id="Re150dcc3ad6a48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c2f0d1150747f5" /><Relationship Type="http://schemas.openxmlformats.org/officeDocument/2006/relationships/notesMaster" Target="/ppt/notesMasters/notesMaster1.xml" Id="R838848b9836a46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432409a4794b0a" /><Relationship Type="http://schemas.openxmlformats.org/officeDocument/2006/relationships/notesMaster" Target="/ppt/notesMasters/notesMaster1.xml" Id="R2ca31407a11a43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205d5d65bb4935" /><Relationship Type="http://schemas.openxmlformats.org/officeDocument/2006/relationships/notesMaster" Target="/ppt/notesMasters/notesMaster1.xml" Id="R9ec730cd9a4845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8e39edd71d47e1" /><Relationship Type="http://schemas.openxmlformats.org/officeDocument/2006/relationships/notesMaster" Target="/ppt/notesMasters/notesMaster1.xml" Id="R3218c262fb7248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1b9c656f9a4778" /><Relationship Type="http://schemas.openxmlformats.org/officeDocument/2006/relationships/notesMaster" Target="/ppt/notesMasters/notesMaster1.xml" Id="R4d34b39ed6ae44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4c0b23b1edc4d15" /><Relationship Type="http://schemas.openxmlformats.org/officeDocument/2006/relationships/notesMaster" Target="/ppt/notesMasters/notesMaster1.xml" Id="R811a83b412284de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10921dd31ba445e" /><Relationship Type="http://schemas.openxmlformats.org/officeDocument/2006/relationships/notesMaster" Target="/ppt/notesMasters/notesMaster1.xml" Id="Rfe5a4cdb6876459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e892450ef504b5c" /><Relationship Type="http://schemas.openxmlformats.org/officeDocument/2006/relationships/notesMaster" Target="/ppt/notesMasters/notesMaster1.xml" Id="R536037f048ec40f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b0ed9a184cc42f3" /><Relationship Type="http://schemas.openxmlformats.org/officeDocument/2006/relationships/notesMaster" Target="/ppt/notesMasters/notesMaster1.xml" Id="R07a77c062f394e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docs/product/kb-ai-challenge-submission-plan.md §2, §6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scenario: docs/product/competition-proposal.md §8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docs/product/competition-proposal.md §6.2, §8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competitor title list, 2026-08-03. Categories reflect titles only; no implementation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docs/product/decision-delta-differentiation.md §2-§4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docs/product/competition-proposal.md §6.4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Text substitute for demo screen</a:t>
            </a:r>
          </a:p>
          <a:p xmlns:a="http://schemas.openxmlformats.org/drawingml/2006/main">
            <a:r>
              <a:t>- Internal: docs/product/decision-delta-differentiation.md §3.3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docs/product/competition-proposal.md §6.6</a:t>
            </a:r>
          </a:p>
          <a:p xmlns:a="http://schemas.openxmlformats.org/drawingml/2006/main">
            <a:r>
              <a:t>- Internal: docs/adr/0028-bank-neutral-consultation-handoff.md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calculation: docs/product/competition-proposal.md §6.2, §8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docs/product/competition-proposal.md §6.8, §7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implementation evidence and docs/product/competition-proposal.md, reviewed 2026-08-03.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docs/product/competition-proposal.md §11</a:t>
            </a:r>
          </a:p>
          <a:p xmlns:a="http://schemas.openxmlformats.org/drawingml/2006/main">
            <a:r>
              <a:t>- Internal: docs/adr/0019-rulepack-promotion-and-review-policy.md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docs/adr/0028-bank-neutral-consultation-handoff.md</a:t>
            </a:r>
          </a:p>
          <a:p xmlns:a="http://schemas.openxmlformats.org/drawingml/2006/main">
            <a:r>
              <a:t>- Internal: docs/product/competition-proposal.md §11.3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implementation evidence and docs/product/competition-proposal.md, reviewed 2026-08-03.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synthesis: docs/product/kb-ai-challenge-submission-plan.md §6.3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0de6b51d6444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2aebd081224838" /><Relationship Type="http://schemas.openxmlformats.org/officeDocument/2006/relationships/slideLayout" Target="/ppt/slideLayouts/slideLayout1.xml" Id="Rc3ad4d33048f45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ad4d33048f45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08af7439a4b24" /><Relationship Type="http://schemas.openxmlformats.org/officeDocument/2006/relationships/notesSlide" Target="/ppt/notesSlides/notesSlide1.xml" Id="R987b26b12aa44d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be20626e342cb" /><Relationship Type="http://schemas.openxmlformats.org/officeDocument/2006/relationships/notesSlide" Target="/ppt/notesSlides/notesSlide2.xml" Id="Re67a2c6f521d45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b0526ace34424" /><Relationship Type="http://schemas.openxmlformats.org/officeDocument/2006/relationships/notesSlide" Target="/ppt/notesSlides/notesSlide3.xml" Id="R71fbd3cc5eff49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4b54cdb50461b" /><Relationship Type="http://schemas.openxmlformats.org/officeDocument/2006/relationships/notesSlide" Target="/ppt/notesSlides/notesSlide4.xml" Id="R2ab1d850f52444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92c5c543645b8" /><Relationship Type="http://schemas.openxmlformats.org/officeDocument/2006/relationships/notesSlide" Target="/ppt/notesSlides/notesSlide5.xml" Id="Rd0a0bada30d547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e0f2248dd4034" /><Relationship Type="http://schemas.openxmlformats.org/officeDocument/2006/relationships/notesSlide" Target="/ppt/notesSlides/notesSlide6.xml" Id="Re003dc7210b44c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877a35fe449a7" /><Relationship Type="http://schemas.openxmlformats.org/officeDocument/2006/relationships/notesSlide" Target="/ppt/notesSlides/notesSlide7.xml" Id="Rfeb4bd2726d547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1f980d60248c6" /><Relationship Type="http://schemas.openxmlformats.org/officeDocument/2006/relationships/notesSlide" Target="/ppt/notesSlides/notesSlide8.xml" Id="R35f2bb5936c4410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7e0578b9b546be" /><Relationship Type="http://schemas.openxmlformats.org/officeDocument/2006/relationships/chart" Target="/ppt/slides/charts/chart1.xml" Id="R10ee1aa92ce549ef" /><Relationship Type="http://schemas.openxmlformats.org/officeDocument/2006/relationships/notesSlide" Target="/ppt/notesSlides/notesSlide9.xml" Id="Ree03d0be38914b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3435ebb284fea" /><Relationship Type="http://schemas.openxmlformats.org/officeDocument/2006/relationships/notesSlide" Target="/ppt/notesSlides/notesSlide10.xml" Id="R3ee950dfc11d4c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3af4756b74724" /><Relationship Type="http://schemas.openxmlformats.org/officeDocument/2006/relationships/notesSlide" Target="/ppt/notesSlides/notesSlide11.xml" Id="Re725bafad431411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6eac677014b3e" /><Relationship Type="http://schemas.openxmlformats.org/officeDocument/2006/relationships/notesSlide" Target="/ppt/notesSlides/notesSlide12.xml" Id="R37c32f302a9d462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b8f56731b42d2" /><Relationship Type="http://schemas.openxmlformats.org/officeDocument/2006/relationships/notesSlide" Target="/ppt/notesSlides/notesSlide13.xml" Id="R884ca339e9b5477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b6e70761a4b03" /><Relationship Type="http://schemas.openxmlformats.org/officeDocument/2006/relationships/notesSlide" Target="/ppt/notesSlides/notesSlide14.xml" Id="R6b05356eda02437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53478ba754d7d" /><Relationship Type="http://schemas.openxmlformats.org/officeDocument/2006/relationships/notesSlide" Target="/ppt/notesSlides/notesSlide15.xml" Id="Ra06fbe1a31254940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예상 외화잔액</c:v>
          </c:tx>
          <c:spPr>
            <a:ln xmlns:a="http://schemas.openxmlformats.org/drawingml/2006/main" w="38100">
              <a:solidFill>
                <a:srgbClr val="C8483C"/>
              </a:solidFill>
              <a:prstDash val="solid"/>
            </a:ln>
          </c:spPr>
          <c:marker>
            <c:symbol val="circle"/>
            <c:size val="8"/>
          </c:marker>
          <c:cat>
            <c:strLit>
              <c:ptCount val="4"/>
              <c:pt idx="0">
                <c:v>8/24</c:v>
              </c:pt>
              <c:pt idx="1">
                <c:v>8/25</c:v>
              </c:pt>
              <c:pt idx="2">
                <c:v>9/30</c:v>
              </c:pt>
              <c:pt idx="3">
                <c:v>10/24</c:v>
              </c:pt>
            </c:strLit>
          </c:cat>
          <c:val>
            <c:numLit>
              <c:formatCode>$#,##0;-$#,##0</c:formatCode>
              <c:ptCount val="4"/>
              <c:pt idx="0">
                <c:v>0</c:v>
              </c:pt>
              <c:pt idx="1">
                <c:v>-60000</c:v>
              </c:pt>
              <c:pt idx="2">
                <c:v>-60000</c:v>
              </c:pt>
              <c:pt idx="3">
                <c:v>40000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11111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C8C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E6E6E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60000"/>
          <c:min val="-80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6E3"/>
              </a:solidFill>
              <a:prstDash val="solid"/>
            </a:ln>
          </c:spPr>
        </c:majorGridlines>
        <c:numFmt formatCode="$#,##0;-$#,##0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6E6E"/>
                </a:solidFill>
              </a:defRPr>
            </a:pPr>
          </a:p>
        </c:txPr>
        <c:crossAx val="48650112"/>
        <c:crossBetween val="between"/>
        <c:majorUnit val="20000"/>
      </c:valAx>
      <c:spPr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693F6C17-4C27-44B2-A30D-7B76E996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19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31E02756-BE05-45F8-A2CA-0EA8BCED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2026 KB AI Challenge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9B825AE-78D9-414D-BC19-19E1A129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9334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5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TradeFlow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DF43F0F-F133-4ACB-91A6-C0F551CC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Trade Deal Decision Twin</a:t>
            </a:r>
          </a:p>
        </p:txBody>
      </p:sp>
      <p:sp>
        <p:nvSpPr>
          <p:cNvPr id="5" name="cover-description">
            <a:extLst xmlns:a="http://schemas.openxmlformats.org/drawingml/2006/main">
              <a:ext uri="{FF2B5EF4-FFF2-40B4-BE49-F238E27FC236}">
                <a16:creationId xmlns:a16="http://schemas.microsoft.com/office/drawing/2014/main" id="{7479EC09-6CD5-4FAC-8815-548035BF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33875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계약조건을 현금흐름과 위험 시나리오로 변환하고,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금융조치의 연쇄 변화까지 연결합니다.</a:t>
            </a:r>
          </a:p>
        </p:txBody>
      </p:sp>
      <p:sp>
        <p:nvSpPr>
          <p:cNvPr id="6" name="cover-tagline">
            <a:extLst xmlns:a="http://schemas.openxmlformats.org/drawingml/2006/main">
              <a:ext uri="{FF2B5EF4-FFF2-40B4-BE49-F238E27FC236}">
                <a16:creationId xmlns:a16="http://schemas.microsoft.com/office/drawing/2014/main" id="{5749499B-C124-42D5-8B11-CBFD8D69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Clause-to-Cash-to-Action</a:t>
            </a:r>
          </a:p>
        </p:txBody>
      </p:sp>
    </p:spTree>
    <p:extLst>
      <p:ext uri="{BB962C8B-B14F-4D97-AF65-F5344CB8AC3E}">
        <p14:creationId xmlns:p14="http://schemas.microsoft.com/office/powerpoint/2010/main" val="9034957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2">
            <a:extLst xmlns:a="http://schemas.openxmlformats.org/drawingml/2006/main">
              <a:ext uri="{FF2B5EF4-FFF2-40B4-BE49-F238E27FC236}">
                <a16:creationId xmlns:a16="http://schemas.microsoft.com/office/drawing/2014/main" id="{CF1F9670-EB57-42E9-B646-18D9EE4A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PROBLEM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25956AAA-817C-43E1-9DAE-B81A82CB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계약은 흑자인데, 결제일에는 USD 60,000이 부족합니다</a:t>
            </a:r>
          </a:p>
        </p:txBody>
      </p:sp>
      <p:cxnSp>
        <p:nvCxnSpPr>
          <p:cNvPr id="32" name="header-rule-2"/>
          <p:cNvCxnSpPr/>
          <p:nvPr/>
        </p:nvCxnSpPr>
        <p:spPr>
          <a:xfrm xmlns:a="http://schemas.openxmlformats.org/drawingml/2006/main">
            <a:off x="533400" y="1266825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C4175713-33B1-4784-99DC-92BED991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cxnSp>
        <p:nvCxnSpPr>
          <p:cNvPr id="34" name="timeline-main"/>
          <p:cNvCxnSpPr/>
          <p:nvPr/>
        </p:nvCxnSpPr>
        <p:spPr>
          <a:xfrm xmlns:a="http://schemas.openxmlformats.org/drawingml/2006/main">
            <a:off x="1066800" y="3505200"/>
            <a:ext cx="9620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11111"/>
            </a:solidFill>
            <a:prstDash val="solid"/>
          </a:ln>
        </p:spPr>
      </p:cxnSp>
      <p:cxnSp>
        <p:nvCxnSpPr>
          <p:cNvPr id="35" name="gap-span"/>
          <p:cNvCxnSpPr/>
          <p:nvPr/>
        </p:nvCxnSpPr>
        <p:spPr>
          <a:xfrm xmlns:a="http://schemas.openxmlformats.org/drawingml/2006/main">
            <a:off x="2390775" y="4362450"/>
            <a:ext cx="6153150" cy="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C8483C"/>
            </a:solidFill>
            <a:prstDash val="solid"/>
          </a:ln>
        </p:spPr>
      </p:cxnSp>
      <p:sp>
        <p:nvSpPr>
          <p:cNvPr id="7" name="timeline-import">
            <a:extLst xmlns:a="http://schemas.openxmlformats.org/drawingml/2006/main">
              <a:ext uri="{FF2B5EF4-FFF2-40B4-BE49-F238E27FC236}">
                <a16:creationId xmlns:a16="http://schemas.microsoft.com/office/drawing/2014/main" id="{4BFFB51B-9722-4BB2-A679-2C787B0A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813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8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meline-export">
            <a:extLst xmlns:a="http://schemas.openxmlformats.org/drawingml/2006/main">
              <a:ext uri="{FF2B5EF4-FFF2-40B4-BE49-F238E27FC236}">
                <a16:creationId xmlns:a16="http://schemas.microsoft.com/office/drawing/2014/main" id="{B3B554DC-6E50-4001-B95C-42818478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813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mport-date">
            <a:extLst xmlns:a="http://schemas.openxmlformats.org/drawingml/2006/main">
              <a:ext uri="{FF2B5EF4-FFF2-40B4-BE49-F238E27FC236}">
                <a16:creationId xmlns:a16="http://schemas.microsoft.com/office/drawing/2014/main" id="{82550744-C30F-422B-846E-2112C668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479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2026.08.25</a:t>
            </a:r>
          </a:p>
        </p:txBody>
      </p:sp>
      <p:sp>
        <p:nvSpPr>
          <p:cNvPr id="10" name="import-amount">
            <a:extLst xmlns:a="http://schemas.openxmlformats.org/drawingml/2006/main">
              <a:ext uri="{FF2B5EF4-FFF2-40B4-BE49-F238E27FC236}">
                <a16:creationId xmlns:a16="http://schemas.microsoft.com/office/drawing/2014/main" id="{D70DA8CD-1E89-496E-804F-EF1B159F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47950"/>
            <a:ext cx="2552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C8483C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C8483C"/>
                </a:solidFill>
                <a:latin typeface="Malgun Gothic"/>
                <a:ea typeface="Malgun Gothic"/>
                <a:cs typeface="Malgun Gothic"/>
              </a:rPr>
              <a:t>- USD 60,000</a:t>
            </a:r>
          </a:p>
        </p:txBody>
      </p:sp>
      <p:sp>
        <p:nvSpPr>
          <p:cNvPr id="11" name="import-label">
            <a:extLst xmlns:a="http://schemas.openxmlformats.org/drawingml/2006/main">
              <a:ext uri="{FF2B5EF4-FFF2-40B4-BE49-F238E27FC236}">
                <a16:creationId xmlns:a16="http://schemas.microsoft.com/office/drawing/2014/main" id="{379FEAC9-A9FE-4369-B591-2E5776E7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766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수입대금 지급</a:t>
            </a:r>
          </a:p>
        </p:txBody>
      </p:sp>
      <p:sp>
        <p:nvSpPr>
          <p:cNvPr id="12" name="export-date">
            <a:extLst xmlns:a="http://schemas.openxmlformats.org/drawingml/2006/main">
              <a:ext uri="{FF2B5EF4-FFF2-40B4-BE49-F238E27FC236}">
                <a16:creationId xmlns:a16="http://schemas.microsoft.com/office/drawing/2014/main" id="{96150EC9-9B8C-4EA1-8E79-5B95E179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479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2026.10.24</a:t>
            </a:r>
          </a:p>
        </p:txBody>
      </p:sp>
      <p:sp>
        <p:nvSpPr>
          <p:cNvPr id="13" name="export-amount">
            <a:extLst xmlns:a="http://schemas.openxmlformats.org/drawingml/2006/main">
              <a:ext uri="{FF2B5EF4-FFF2-40B4-BE49-F238E27FC236}">
                <a16:creationId xmlns:a16="http://schemas.microsoft.com/office/drawing/2014/main" id="{C025BD12-D4E1-4490-B012-BB3147B2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2F7D6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F7D62"/>
                </a:solidFill>
                <a:latin typeface="Malgun Gothic"/>
                <a:ea typeface="Malgun Gothic"/>
                <a:cs typeface="Malgun Gothic"/>
              </a:rPr>
              <a:t>+ USD 100,000</a:t>
            </a:r>
          </a:p>
        </p:txBody>
      </p:sp>
      <p:sp>
        <p:nvSpPr>
          <p:cNvPr id="14" name="export-label">
            <a:extLst xmlns:a="http://schemas.openxmlformats.org/drawingml/2006/main">
              <a:ext uri="{FF2B5EF4-FFF2-40B4-BE49-F238E27FC236}">
                <a16:creationId xmlns:a16="http://schemas.microsoft.com/office/drawing/2014/main" id="{9B1BADAC-A348-45B9-B711-80C1740E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수출대금 수취</a:t>
            </a:r>
          </a:p>
        </p:txBody>
      </p:sp>
      <p:sp>
        <p:nvSpPr>
          <p:cNvPr id="15" name="gap-label">
            <a:extLst xmlns:a="http://schemas.openxmlformats.org/drawingml/2006/main">
              <a:ext uri="{FF2B5EF4-FFF2-40B4-BE49-F238E27FC236}">
                <a16:creationId xmlns:a16="http://schemas.microsoft.com/office/drawing/2014/main" id="{0AE851C0-2B74-4C6D-840E-674435F3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61962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C8483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C8483C"/>
                </a:solidFill>
                <a:latin typeface="Malgun Gothic"/>
                <a:ea typeface="Malgun Gothic"/>
                <a:cs typeface="Malgun Gothic"/>
              </a:rPr>
              <a:t>60일 동안 외화 잔액이 마이너스</a:t>
            </a:r>
          </a:p>
        </p:txBody>
      </p:sp>
      <p:sp>
        <p:nvSpPr>
          <p:cNvPr id="16" name="gap-callout">
            <a:extLst xmlns:a="http://schemas.openxmlformats.org/drawingml/2006/main">
              <a:ext uri="{FF2B5EF4-FFF2-40B4-BE49-F238E27FC236}">
                <a16:creationId xmlns:a16="http://schemas.microsoft.com/office/drawing/2014/main" id="{A67CE4B2-682B-45E5-B085-192B9D39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219700"/>
            <a:ext cx="44005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8C8C5"/>
            </a:solidFill>
            <a:prstDash val="solid"/>
          </a:ln>
        </p:spPr>
      </p:sp>
      <p:sp>
        <p:nvSpPr>
          <p:cNvPr id="17" name="gap-callout-text">
            <a:extLst xmlns:a="http://schemas.openxmlformats.org/drawingml/2006/main">
              <a:ext uri="{FF2B5EF4-FFF2-40B4-BE49-F238E27FC236}">
                <a16:creationId xmlns:a16="http://schemas.microsoft.com/office/drawing/2014/main" id="{4111278B-2EFA-4BC9-8D5A-D662F8FF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4483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최종 순유입 +USD 40,000  ≠  결제일 유동성</a:t>
            </a:r>
          </a:p>
        </p:txBody>
      </p:sp>
    </p:spTree>
    <p:extLst>
      <p:ext uri="{BB962C8B-B14F-4D97-AF65-F5344CB8AC3E}">
        <p14:creationId xmlns:p14="http://schemas.microsoft.com/office/powerpoint/2010/main" val="1268950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3">
            <a:extLst xmlns:a="http://schemas.openxmlformats.org/drawingml/2006/main">
              <a:ext uri="{FF2B5EF4-FFF2-40B4-BE49-F238E27FC236}">
                <a16:creationId xmlns:a16="http://schemas.microsoft.com/office/drawing/2014/main" id="{F3136A45-3911-494C-969E-4120E193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PROBLEM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0EE9732A-4828-4B23-A7D9-00314345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환위험만 보면 자금 문제의 절반을 놓칩니다</a:t>
            </a:r>
          </a:p>
        </p:txBody>
      </p:sp>
      <p:cxnSp>
        <p:nvCxnSpPr>
          <p:cNvPr id="26" name="header-rule-3"/>
          <p:cNvCxnSpPr/>
          <p:nvPr/>
        </p:nvCxnSpPr>
        <p:spPr>
          <a:xfrm xmlns:a="http://schemas.openxmlformats.org/drawingml/2006/main">
            <a:off x="533400" y="1266825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FD5E6CCA-4019-41CD-A706-E6404D0F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cxnSp>
        <p:nvCxnSpPr>
          <p:cNvPr id="28" name="compare-divider"/>
          <p:cNvCxnSpPr/>
          <p:nvPr/>
        </p:nvCxnSpPr>
        <p:spPr>
          <a:xfrm xmlns:a="http://schemas.openxmlformats.org/drawingml/2006/main">
            <a:off x="6096000" y="1733550"/>
            <a:ext cx="0" cy="3714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6" name="economic-label">
            <a:extLst xmlns:a="http://schemas.openxmlformats.org/drawingml/2006/main">
              <a:ext uri="{FF2B5EF4-FFF2-40B4-BE49-F238E27FC236}">
                <a16:creationId xmlns:a16="http://schemas.microsoft.com/office/drawing/2014/main" id="{6C6F46B4-D5F3-4158-9C36-B7B3F6B8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경제적 자연헤지</a:t>
            </a:r>
          </a:p>
        </p:txBody>
      </p:sp>
      <p:sp>
        <p:nvSpPr>
          <p:cNvPr id="7" name="economic-value">
            <a:extLst xmlns:a="http://schemas.openxmlformats.org/drawingml/2006/main">
              <a:ext uri="{FF2B5EF4-FFF2-40B4-BE49-F238E27FC236}">
                <a16:creationId xmlns:a16="http://schemas.microsoft.com/office/drawing/2014/main" id="{21240BFE-43E8-4241-8C68-7B089D73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USD 60,000</a:t>
            </a:r>
          </a:p>
        </p:txBody>
      </p:sp>
      <p:sp>
        <p:nvSpPr>
          <p:cNvPr id="8" name="economic-copy">
            <a:extLst xmlns:a="http://schemas.openxmlformats.org/drawingml/2006/main">
              <a:ext uri="{FF2B5EF4-FFF2-40B4-BE49-F238E27FC236}">
                <a16:creationId xmlns:a16="http://schemas.microsoft.com/office/drawing/2014/main" id="{934D1ABC-5554-497D-8A3F-503335EF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전체 수출·수입 금액에서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서로 상계 가능한 규모</a:t>
            </a:r>
          </a:p>
        </p:txBody>
      </p:sp>
      <p:sp>
        <p:nvSpPr>
          <p:cNvPr id="9" name="maturity-label">
            <a:extLst xmlns:a="http://schemas.openxmlformats.org/drawingml/2006/main">
              <a:ext uri="{FF2B5EF4-FFF2-40B4-BE49-F238E27FC236}">
                <a16:creationId xmlns:a16="http://schemas.microsoft.com/office/drawing/2014/main" id="{68E81B3E-5964-4127-8BEB-B7C1318C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240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결제시점 상계</a:t>
            </a:r>
          </a:p>
        </p:txBody>
      </p:sp>
      <p:sp>
        <p:nvSpPr>
          <p:cNvPr id="10" name="maturity-value">
            <a:extLst xmlns:a="http://schemas.openxmlformats.org/drawingml/2006/main">
              <a:ext uri="{FF2B5EF4-FFF2-40B4-BE49-F238E27FC236}">
                <a16:creationId xmlns:a16="http://schemas.microsoft.com/office/drawing/2014/main" id="{823DAD0C-337C-4C4A-B50F-D5A91E2B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3365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C8483C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C8483C"/>
                </a:solidFill>
                <a:latin typeface="Malgun Gothic"/>
                <a:ea typeface="Malgun Gothic"/>
                <a:cs typeface="Malgun Gothic"/>
              </a:rPr>
              <a:t>USD 0</a:t>
            </a:r>
          </a:p>
        </p:txBody>
      </p:sp>
      <p:sp>
        <p:nvSpPr>
          <p:cNvPr id="11" name="maturity-copy">
            <a:extLst xmlns:a="http://schemas.openxmlformats.org/drawingml/2006/main">
              <a:ext uri="{FF2B5EF4-FFF2-40B4-BE49-F238E27FC236}">
                <a16:creationId xmlns:a16="http://schemas.microsoft.com/office/drawing/2014/main" id="{9E3E6AE1-AB56-41A5-B8D2-B5C21774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623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수입 지급일에 실제로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사용할 수 있는 수출대금</a:t>
            </a:r>
          </a:p>
        </p:txBody>
      </p:sp>
      <p:sp>
        <p:nvSpPr>
          <p:cNvPr id="12" name="insight-band">
            <a:extLst xmlns:a="http://schemas.openxmlformats.org/drawingml/2006/main">
              <a:ext uri="{FF2B5EF4-FFF2-40B4-BE49-F238E27FC236}">
                <a16:creationId xmlns:a16="http://schemas.microsoft.com/office/drawing/2014/main" id="{6379AA29-B23A-440B-8257-3D5825D9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102679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insight-text">
            <a:extLst xmlns:a="http://schemas.openxmlformats.org/drawingml/2006/main">
              <a:ext uri="{FF2B5EF4-FFF2-40B4-BE49-F238E27FC236}">
                <a16:creationId xmlns:a16="http://schemas.microsoft.com/office/drawing/2014/main" id="{21ABBD28-6925-4399-A93B-E327B2AD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81600"/>
            <a:ext cx="969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환노출 감소와 결제일 자금 확보는 서로 다른 의사결정입니다.</a:t>
            </a:r>
          </a:p>
        </p:txBody>
      </p:sp>
    </p:spTree>
    <p:extLst>
      <p:ext uri="{BB962C8B-B14F-4D97-AF65-F5344CB8AC3E}">
        <p14:creationId xmlns:p14="http://schemas.microsoft.com/office/powerpoint/2010/main" val="16208375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ection-4">
            <a:extLst xmlns:a="http://schemas.openxmlformats.org/drawingml/2006/main">
              <a:ext uri="{FF2B5EF4-FFF2-40B4-BE49-F238E27FC236}">
                <a16:creationId xmlns:a16="http://schemas.microsoft.com/office/drawing/2014/main" id="{83AB52E1-470E-46A3-B10F-720B58D5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PROBLEM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FD84FD91-5065-4513-AC9E-EBCCEBFC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경쟁은 환리스크·서류심사·뉴스 분석에 몰려 있습니다</a:t>
            </a:r>
          </a:p>
        </p:txBody>
      </p:sp>
      <p:cxnSp>
        <p:nvCxnSpPr>
          <p:cNvPr id="45" name="header-rule-4"/>
          <p:cNvCxnSpPr/>
          <p:nvPr/>
        </p:nvCxnSpPr>
        <p:spPr>
          <a:xfrm xmlns:a="http://schemas.openxmlformats.org/drawingml/2006/main">
            <a:off x="533400" y="1266825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BB8401FC-A521-4DB0-A664-C4DADB4B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cxnSp>
        <p:nvCxnSpPr>
          <p:cNvPr id="47" name="flow-line-1"/>
          <p:cNvCxnSpPr/>
          <p:nvPr/>
        </p:nvCxnSpPr>
        <p:spPr>
          <a:xfrm xmlns:a="http://schemas.openxmlformats.org/drawingml/2006/main">
            <a:off x="1428750" y="3248025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C8C5"/>
            </a:solidFill>
            <a:prstDash val="solid"/>
          </a:ln>
        </p:spPr>
      </p:cxnSp>
      <p:cxnSp>
        <p:nvCxnSpPr>
          <p:cNvPr id="48" name="flow-line-2"/>
          <p:cNvCxnSpPr/>
          <p:nvPr/>
        </p:nvCxnSpPr>
        <p:spPr>
          <a:xfrm xmlns:a="http://schemas.openxmlformats.org/drawingml/2006/main">
            <a:off x="4191000" y="324802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C8C5"/>
            </a:solidFill>
            <a:prstDash val="solid"/>
          </a:ln>
        </p:spPr>
      </p:cxnSp>
      <p:cxnSp>
        <p:nvCxnSpPr>
          <p:cNvPr id="49" name="flow-line-3"/>
          <p:cNvCxnSpPr/>
          <p:nvPr/>
        </p:nvCxnSpPr>
        <p:spPr>
          <a:xfrm xmlns:a="http://schemas.openxmlformats.org/drawingml/2006/main">
            <a:off x="6572250" y="3248025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C8C5"/>
            </a:solidFill>
            <a:prstDash val="solid"/>
          </a:ln>
        </p:spPr>
      </p:cxnSp>
      <p:cxnSp>
        <p:nvCxnSpPr>
          <p:cNvPr id="50" name="flow-line-4"/>
          <p:cNvCxnSpPr/>
          <p:nvPr/>
        </p:nvCxnSpPr>
        <p:spPr>
          <a:xfrm xmlns:a="http://schemas.openxmlformats.org/drawingml/2006/main">
            <a:off x="8858250" y="3248025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C8C5"/>
            </a:solidFill>
            <a:prstDash val="solid"/>
          </a:ln>
        </p:spPr>
      </p:cxnSp>
      <p:sp>
        <p:nvSpPr>
          <p:cNvPr id="9" name="flow-dot-0">
            <a:extLst xmlns:a="http://schemas.openxmlformats.org/drawingml/2006/main">
              <a:ext uri="{FF2B5EF4-FFF2-40B4-BE49-F238E27FC236}">
                <a16:creationId xmlns:a16="http://schemas.microsoft.com/office/drawing/2014/main" id="{52B802F5-10B8-46E6-A1EC-575943C2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956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low-label-0">
            <a:extLst xmlns:a="http://schemas.openxmlformats.org/drawingml/2006/main">
              <a:ext uri="{FF2B5EF4-FFF2-40B4-BE49-F238E27FC236}">
                <a16:creationId xmlns:a16="http://schemas.microsoft.com/office/drawing/2014/main" id="{B5683D7E-5689-4205-A327-E8A2EDCE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환리스크</a:t>
            </a:r>
          </a:p>
        </p:txBody>
      </p:sp>
      <p:sp>
        <p:nvSpPr>
          <p:cNvPr id="11" name="flow-sub-0">
            <a:extLst xmlns:a="http://schemas.openxmlformats.org/drawingml/2006/main">
              <a:ext uri="{FF2B5EF4-FFF2-40B4-BE49-F238E27FC236}">
                <a16:creationId xmlns:a16="http://schemas.microsoft.com/office/drawing/2014/main" id="{D0CBAF6A-0503-4444-A5AA-22166A2B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헤지·예측</a:t>
            </a:r>
          </a:p>
        </p:txBody>
      </p:sp>
      <p:sp>
        <p:nvSpPr>
          <p:cNvPr id="12" name="flow-dot-1">
            <a:extLst xmlns:a="http://schemas.openxmlformats.org/drawingml/2006/main">
              <a:ext uri="{FF2B5EF4-FFF2-40B4-BE49-F238E27FC236}">
                <a16:creationId xmlns:a16="http://schemas.microsoft.com/office/drawing/2014/main" id="{BF8168E0-3FB9-432A-9D17-C939DF7D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0956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DD5AC13C-71E2-457A-9EEC-4FD4DD77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676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서류심사</a:t>
            </a:r>
          </a:p>
        </p:txBody>
      </p:sp>
      <p:sp>
        <p:nvSpPr>
          <p:cNvPr id="14" name="flow-sub-1">
            <a:extLst xmlns:a="http://schemas.openxmlformats.org/drawingml/2006/main">
              <a:ext uri="{FF2B5EF4-FFF2-40B4-BE49-F238E27FC236}">
                <a16:creationId xmlns:a16="http://schemas.microsoft.com/office/drawing/2014/main" id="{6AEFDD0B-6351-482D-AFC7-C635CB0C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11480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하자·검증</a:t>
            </a:r>
          </a:p>
        </p:txBody>
      </p:sp>
      <p:sp>
        <p:nvSpPr>
          <p:cNvPr id="15" name="flow-dot-2">
            <a:extLst xmlns:a="http://schemas.openxmlformats.org/drawingml/2006/main">
              <a:ext uri="{FF2B5EF4-FFF2-40B4-BE49-F238E27FC236}">
                <a16:creationId xmlns:a16="http://schemas.microsoft.com/office/drawing/2014/main" id="{E54E5C6D-CA0F-4213-BBD9-63EF3EB1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0956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50B3AD89-5E20-4282-8442-4D7D79BA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76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뉴스 위험</a:t>
            </a:r>
          </a:p>
        </p:txBody>
      </p:sp>
      <p:sp>
        <p:nvSpPr>
          <p:cNvPr id="17" name="flow-sub-2">
            <a:extLst xmlns:a="http://schemas.openxmlformats.org/drawingml/2006/main">
              <a:ext uri="{FF2B5EF4-FFF2-40B4-BE49-F238E27FC236}">
                <a16:creationId xmlns:a16="http://schemas.microsoft.com/office/drawing/2014/main" id="{C839D54B-C3B1-468F-9152-D09C8A80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11480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국가·바이어</a:t>
            </a:r>
          </a:p>
        </p:txBody>
      </p:sp>
      <p:sp>
        <p:nvSpPr>
          <p:cNvPr id="18" name="flow-dot-3">
            <a:extLst xmlns:a="http://schemas.openxmlformats.org/drawingml/2006/main">
              <a:ext uri="{FF2B5EF4-FFF2-40B4-BE49-F238E27FC236}">
                <a16:creationId xmlns:a16="http://schemas.microsoft.com/office/drawing/2014/main" id="{CE1913F1-0FDF-4191-82EC-9C6EED17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0956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8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6FA35C23-EA8F-4958-B9D9-2A8AC469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676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금융 연결</a:t>
            </a:r>
          </a:p>
        </p:txBody>
      </p:sp>
      <p:sp>
        <p:nvSpPr>
          <p:cNvPr id="20" name="flow-sub-3">
            <a:extLst xmlns:a="http://schemas.openxmlformats.org/drawingml/2006/main">
              <a:ext uri="{FF2B5EF4-FFF2-40B4-BE49-F238E27FC236}">
                <a16:creationId xmlns:a16="http://schemas.microsoft.com/office/drawing/2014/main" id="{97976B92-7C03-4005-B831-FE530FB1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11480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상품·상담</a:t>
            </a:r>
          </a:p>
        </p:txBody>
      </p:sp>
      <p:sp>
        <p:nvSpPr>
          <p:cNvPr id="21" name="flow-dot-4">
            <a:extLst xmlns:a="http://schemas.openxmlformats.org/drawingml/2006/main">
              <a:ext uri="{FF2B5EF4-FFF2-40B4-BE49-F238E27FC236}">
                <a16:creationId xmlns:a16="http://schemas.microsoft.com/office/drawing/2014/main" id="{CBC3CA1B-38EF-4FDB-854B-F0861B5F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0956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low-label-4">
            <a:extLst xmlns:a="http://schemas.openxmlformats.org/drawingml/2006/main">
              <a:ext uri="{FF2B5EF4-FFF2-40B4-BE49-F238E27FC236}">
                <a16:creationId xmlns:a16="http://schemas.microsoft.com/office/drawing/2014/main" id="{09FF0C99-4822-4B40-AA01-799A9BE6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76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현금흐름</a:t>
            </a:r>
          </a:p>
        </p:txBody>
      </p:sp>
      <p:sp>
        <p:nvSpPr>
          <p:cNvPr id="23" name="flow-sub-4">
            <a:extLst xmlns:a="http://schemas.openxmlformats.org/drawingml/2006/main">
              <a:ext uri="{FF2B5EF4-FFF2-40B4-BE49-F238E27FC236}">
                <a16:creationId xmlns:a16="http://schemas.microsoft.com/office/drawing/2014/main" id="{33140A37-75B6-4357-A1BB-C824F7F3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1480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CFO 예측</a:t>
            </a:r>
          </a:p>
        </p:txBody>
      </p:sp>
      <p:sp>
        <p:nvSpPr>
          <p:cNvPr id="24" name="break-marker">
            <a:extLst xmlns:a="http://schemas.openxmlformats.org/drawingml/2006/main">
              <a:ext uri="{FF2B5EF4-FFF2-40B4-BE49-F238E27FC236}">
                <a16:creationId xmlns:a16="http://schemas.microsoft.com/office/drawing/2014/main" id="{68476A98-CD9E-4D43-A7D8-33B744DD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62250"/>
            <a:ext cx="76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reak-symbol">
            <a:extLst xmlns:a="http://schemas.openxmlformats.org/drawingml/2006/main">
              <a:ext uri="{FF2B5EF4-FFF2-40B4-BE49-F238E27FC236}">
                <a16:creationId xmlns:a16="http://schemas.microsoft.com/office/drawing/2014/main" id="{121E7550-58E6-4C12-817D-CAED452F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714625"/>
            <a:ext cx="628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C8483C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C8483C"/>
                </a:solidFill>
                <a:latin typeface="Malgun Gothic"/>
                <a:ea typeface="Malgun Gothic"/>
                <a:cs typeface="Malgun Gothic"/>
              </a:rPr>
              <a:t>×</a:t>
            </a:r>
          </a:p>
        </p:txBody>
      </p:sp>
      <p:sp>
        <p:nvSpPr>
          <p:cNvPr id="26" name="break-copy">
            <a:extLst xmlns:a="http://schemas.openxmlformats.org/drawingml/2006/main">
              <a:ext uri="{FF2B5EF4-FFF2-40B4-BE49-F238E27FC236}">
                <a16:creationId xmlns:a16="http://schemas.microsoft.com/office/drawing/2014/main" id="{E40D3085-82A4-4D6B-86AE-F170EB5C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435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빈 공간은 기능 수가 아니라 계약조건 변화의 연쇄 영향을 연결하는 것입니다.</a:t>
            </a:r>
          </a:p>
        </p:txBody>
      </p:sp>
    </p:spTree>
    <p:extLst>
      <p:ext uri="{BB962C8B-B14F-4D97-AF65-F5344CB8AC3E}">
        <p14:creationId xmlns:p14="http://schemas.microsoft.com/office/powerpoint/2010/main" val="5941351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ection-5">
            <a:extLst xmlns:a="http://schemas.openxmlformats.org/drawingml/2006/main">
              <a:ext uri="{FF2B5EF4-FFF2-40B4-BE49-F238E27FC236}">
                <a16:creationId xmlns:a16="http://schemas.microsoft.com/office/drawing/2014/main" id="{45C40C94-8E3C-41C2-978F-3AA39AE9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SOLUTION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AC9699AA-397B-480D-B1CE-0B9B05FE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TradeFlow는 Clause-to-Cash-to-Action을 연결합니다</a:t>
            </a:r>
          </a:p>
        </p:txBody>
      </p:sp>
      <p:cxnSp>
        <p:nvCxnSpPr>
          <p:cNvPr id="39" name="header-rule-5"/>
          <p:cNvCxnSpPr/>
          <p:nvPr/>
        </p:nvCxnSpPr>
        <p:spPr>
          <a:xfrm xmlns:a="http://schemas.openxmlformats.org/drawingml/2006/main">
            <a:off x="533400" y="1266825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071613FB-0567-401D-8E43-BFF71DD9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cxnSp>
        <p:nvCxnSpPr>
          <p:cNvPr id="41" name="journey-line"/>
          <p:cNvCxnSpPr/>
          <p:nvPr/>
        </p:nvCxnSpPr>
        <p:spPr>
          <a:xfrm xmlns:a="http://schemas.openxmlformats.org/drawingml/2006/main">
            <a:off x="1200150" y="3676650"/>
            <a:ext cx="9696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C8C5"/>
            </a:solidFill>
            <a:prstDash val="solid"/>
          </a:ln>
        </p:spPr>
      </p:cxnSp>
      <p:sp>
        <p:nvSpPr>
          <p:cNvPr id="6" name="stage-node-1">
            <a:extLst xmlns:a="http://schemas.openxmlformats.org/drawingml/2006/main">
              <a:ext uri="{FF2B5EF4-FFF2-40B4-BE49-F238E27FC236}">
                <a16:creationId xmlns:a16="http://schemas.microsoft.com/office/drawing/2014/main" id="{13E976BF-C5E8-4AF4-BC74-5763AB47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8288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F2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ge-index-1">
            <a:extLst xmlns:a="http://schemas.openxmlformats.org/drawingml/2006/main">
              <a:ext uri="{FF2B5EF4-FFF2-40B4-BE49-F238E27FC236}">
                <a16:creationId xmlns:a16="http://schemas.microsoft.com/office/drawing/2014/main" id="{3EEE4449-2F82-4BAE-9F7A-6BB80650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stage-label-1">
            <a:extLst xmlns:a="http://schemas.openxmlformats.org/drawingml/2006/main">
              <a:ext uri="{FF2B5EF4-FFF2-40B4-BE49-F238E27FC236}">
                <a16:creationId xmlns:a16="http://schemas.microsoft.com/office/drawing/2014/main" id="{0CFE6D90-ED80-45C5-A404-AF6F7729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계약 조건</a:t>
            </a:r>
          </a:p>
        </p:txBody>
      </p:sp>
      <p:sp>
        <p:nvSpPr>
          <p:cNvPr id="9" name="stage-sub-1">
            <a:extLst xmlns:a="http://schemas.openxmlformats.org/drawingml/2006/main">
              <a:ext uri="{FF2B5EF4-FFF2-40B4-BE49-F238E27FC236}">
                <a16:creationId xmlns:a16="http://schemas.microsoft.com/office/drawing/2014/main" id="{031535F2-8976-44D9-B967-067F0BA8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Clause·문서</a:t>
            </a:r>
          </a:p>
        </p:txBody>
      </p:sp>
      <p:sp>
        <p:nvSpPr>
          <p:cNvPr id="10" name="stage-node-2">
            <a:extLst xmlns:a="http://schemas.openxmlformats.org/drawingml/2006/main">
              <a:ext uri="{FF2B5EF4-FFF2-40B4-BE49-F238E27FC236}">
                <a16:creationId xmlns:a16="http://schemas.microsoft.com/office/drawing/2014/main" id="{62D77CDA-8AAD-4560-B5F8-CC9F7F68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00300"/>
            <a:ext cx="18288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F2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age-index-2">
            <a:extLst xmlns:a="http://schemas.openxmlformats.org/drawingml/2006/main">
              <a:ext uri="{FF2B5EF4-FFF2-40B4-BE49-F238E27FC236}">
                <a16:creationId xmlns:a16="http://schemas.microsoft.com/office/drawing/2014/main" id="{2C6CC625-D32C-4553-82E2-0BF0322D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5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stage-label-2">
            <a:extLst xmlns:a="http://schemas.openxmlformats.org/drawingml/2006/main">
              <a:ext uri="{FF2B5EF4-FFF2-40B4-BE49-F238E27FC236}">
                <a16:creationId xmlns:a16="http://schemas.microsoft.com/office/drawing/2014/main" id="{FEDE7970-F347-4A03-B162-BA14AB5C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956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현금 변환</a:t>
            </a:r>
          </a:p>
        </p:txBody>
      </p:sp>
      <p:sp>
        <p:nvSpPr>
          <p:cNvPr id="13" name="stage-sub-2">
            <a:extLst xmlns:a="http://schemas.openxmlformats.org/drawingml/2006/main">
              <a:ext uri="{FF2B5EF4-FFF2-40B4-BE49-F238E27FC236}">
                <a16:creationId xmlns:a16="http://schemas.microsoft.com/office/drawing/2014/main" id="{0AE20503-791D-4C6C-A448-2028E62A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956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지급·수취 일정</a:t>
            </a:r>
          </a:p>
        </p:txBody>
      </p:sp>
      <p:sp>
        <p:nvSpPr>
          <p:cNvPr id="14" name="stage-node-3">
            <a:extLst xmlns:a="http://schemas.openxmlformats.org/drawingml/2006/main">
              <a:ext uri="{FF2B5EF4-FFF2-40B4-BE49-F238E27FC236}">
                <a16:creationId xmlns:a16="http://schemas.microsoft.com/office/drawing/2014/main" id="{521803F0-D7FB-4112-B18B-540D56DD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00300"/>
            <a:ext cx="18288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age-index-3">
            <a:extLst xmlns:a="http://schemas.openxmlformats.org/drawingml/2006/main">
              <a:ext uri="{FF2B5EF4-FFF2-40B4-BE49-F238E27FC236}">
                <a16:creationId xmlns:a16="http://schemas.microsoft.com/office/drawing/2014/main" id="{35DDCC1B-BBA3-4471-BE34-3879DE87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5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stage-label-3">
            <a:extLst xmlns:a="http://schemas.openxmlformats.org/drawingml/2006/main">
              <a:ext uri="{FF2B5EF4-FFF2-40B4-BE49-F238E27FC236}">
                <a16:creationId xmlns:a16="http://schemas.microsoft.com/office/drawing/2014/main" id="{F62A5EE8-6C3B-4459-8D04-EFC60660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8956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위험 전파</a:t>
            </a:r>
          </a:p>
        </p:txBody>
      </p:sp>
      <p:sp>
        <p:nvSpPr>
          <p:cNvPr id="17" name="stage-sub-3">
            <a:extLst xmlns:a="http://schemas.openxmlformats.org/drawingml/2006/main">
              <a:ext uri="{FF2B5EF4-FFF2-40B4-BE49-F238E27FC236}">
                <a16:creationId xmlns:a16="http://schemas.microsoft.com/office/drawing/2014/main" id="{DF0ABAD1-100C-43E4-969C-DEB9DF5E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2956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공백·환노출 기간</a:t>
            </a:r>
          </a:p>
        </p:txBody>
      </p:sp>
      <p:sp>
        <p:nvSpPr>
          <p:cNvPr id="18" name="stage-node-4">
            <a:extLst xmlns:a="http://schemas.openxmlformats.org/drawingml/2006/main">
              <a:ext uri="{FF2B5EF4-FFF2-40B4-BE49-F238E27FC236}">
                <a16:creationId xmlns:a16="http://schemas.microsoft.com/office/drawing/2014/main" id="{C76CC3DC-8E2F-4361-A49E-02378CFA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00300"/>
            <a:ext cx="18288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F2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age-index-4">
            <a:extLst xmlns:a="http://schemas.openxmlformats.org/drawingml/2006/main">
              <a:ext uri="{FF2B5EF4-FFF2-40B4-BE49-F238E27FC236}">
                <a16:creationId xmlns:a16="http://schemas.microsoft.com/office/drawing/2014/main" id="{321A8D25-E8DF-4E55-88AF-51FFCA6A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5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0" name="stage-label-4">
            <a:extLst xmlns:a="http://schemas.openxmlformats.org/drawingml/2006/main">
              <a:ext uri="{FF2B5EF4-FFF2-40B4-BE49-F238E27FC236}">
                <a16:creationId xmlns:a16="http://schemas.microsoft.com/office/drawing/2014/main" id="{E469A376-AFB0-4DE0-A8D9-7B46909E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956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대안 비교</a:t>
            </a:r>
          </a:p>
        </p:txBody>
      </p:sp>
      <p:sp>
        <p:nvSpPr>
          <p:cNvPr id="21" name="stage-sub-4">
            <a:extLst xmlns:a="http://schemas.openxmlformats.org/drawingml/2006/main">
              <a:ext uri="{FF2B5EF4-FFF2-40B4-BE49-F238E27FC236}">
                <a16:creationId xmlns:a16="http://schemas.microsoft.com/office/drawing/2014/main" id="{9E54C16C-8A33-451E-BCAC-9F69A90F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956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재협상·보험·금융</a:t>
            </a:r>
          </a:p>
        </p:txBody>
      </p:sp>
      <p:sp>
        <p:nvSpPr>
          <p:cNvPr id="22" name="stage-node-5">
            <a:extLst xmlns:a="http://schemas.openxmlformats.org/drawingml/2006/main">
              <a:ext uri="{FF2B5EF4-FFF2-40B4-BE49-F238E27FC236}">
                <a16:creationId xmlns:a16="http://schemas.microsoft.com/office/drawing/2014/main" id="{5F73B4FB-4C3D-43D3-9C3F-2E5261FD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00300"/>
            <a:ext cx="18288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F2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tage-index-5">
            <a:extLst xmlns:a="http://schemas.openxmlformats.org/drawingml/2006/main">
              <a:ext uri="{FF2B5EF4-FFF2-40B4-BE49-F238E27FC236}">
                <a16:creationId xmlns:a16="http://schemas.microsoft.com/office/drawing/2014/main" id="{46009BAA-405A-4970-B665-DDAD6D89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55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4" name="stage-label-5">
            <a:extLst xmlns:a="http://schemas.openxmlformats.org/drawingml/2006/main">
              <a:ext uri="{FF2B5EF4-FFF2-40B4-BE49-F238E27FC236}">
                <a16:creationId xmlns:a16="http://schemas.microsoft.com/office/drawing/2014/main" id="{40F014FE-F89C-4159-AA3D-D66BFBFD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956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결정 인계</a:t>
            </a:r>
          </a:p>
        </p:txBody>
      </p:sp>
      <p:sp>
        <p:nvSpPr>
          <p:cNvPr id="25" name="stage-sub-5">
            <a:extLst xmlns:a="http://schemas.openxmlformats.org/drawingml/2006/main">
              <a:ext uri="{FF2B5EF4-FFF2-40B4-BE49-F238E27FC236}">
                <a16:creationId xmlns:a16="http://schemas.microsoft.com/office/drawing/2014/main" id="{E1AADB76-893D-4D10-92B3-A51CB2DC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2956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Delta·Passport</a:t>
            </a:r>
          </a:p>
        </p:txBody>
      </p:sp>
      <p:sp>
        <p:nvSpPr>
          <p:cNvPr id="26" name="journey-caption">
            <a:extLst xmlns:a="http://schemas.openxmlformats.org/drawingml/2006/main">
              <a:ext uri="{FF2B5EF4-FFF2-40B4-BE49-F238E27FC236}">
                <a16:creationId xmlns:a16="http://schemas.microsoft.com/office/drawing/2014/main" id="{E21728D9-7179-4212-8F19-27AE820F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482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89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거래조건 하나의 변화가 자금·위험·행동까지 이어지는 Decision Twin</a:t>
            </a:r>
          </a:p>
        </p:txBody>
      </p:sp>
    </p:spTree>
    <p:extLst>
      <p:ext uri="{BB962C8B-B14F-4D97-AF65-F5344CB8AC3E}">
        <p14:creationId xmlns:p14="http://schemas.microsoft.com/office/powerpoint/2010/main" val="13324372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6">
            <a:extLst xmlns:a="http://schemas.openxmlformats.org/drawingml/2006/main">
              <a:ext uri="{FF2B5EF4-FFF2-40B4-BE49-F238E27FC236}">
                <a16:creationId xmlns:a16="http://schemas.microsoft.com/office/drawing/2014/main" id="{0CD97F1C-915B-4FA6-BFE9-5BF9D6FC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DIFFERENTIATION 1/3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3B4E7049-B089-426B-88ED-1F4A94FD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결과를 가장 크게 바꾸는 질문을 먼저 찾습니다</a:t>
            </a:r>
          </a:p>
        </p:txBody>
      </p:sp>
      <p:cxnSp>
        <p:nvCxnSpPr>
          <p:cNvPr id="51" name="header-rule-6"/>
          <p:cNvCxnSpPr/>
          <p:nvPr/>
        </p:nvCxnSpPr>
        <p:spPr>
          <a:xfrm xmlns:a="http://schemas.openxmlformats.org/drawingml/2006/main">
            <a:off x="533400" y="1266825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489F62C6-D747-4A01-9E8C-48BBD287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5" name="question-eyebrow">
            <a:extLst xmlns:a="http://schemas.openxmlformats.org/drawingml/2006/main">
              <a:ext uri="{FF2B5EF4-FFF2-40B4-BE49-F238E27FC236}">
                <a16:creationId xmlns:a16="http://schemas.microsoft.com/office/drawing/2014/main" id="{11D91C67-DD0C-4F2D-BDB2-ADC5916C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NEXT DECISIVE QUESTION</a:t>
            </a:r>
          </a:p>
        </p:txBody>
      </p:sp>
      <p:sp>
        <p:nvSpPr>
          <p:cNvPr id="6" name="question-main">
            <a:extLst xmlns:a="http://schemas.openxmlformats.org/drawingml/2006/main">
              <a:ext uri="{FF2B5EF4-FFF2-40B4-BE49-F238E27FC236}">
                <a16:creationId xmlns:a16="http://schemas.microsoft.com/office/drawing/2014/main" id="{FB70B0A2-0830-4704-80F7-2EF1DE55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5619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현재 보유한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USD 잔액이 있습니까?</a:t>
            </a:r>
          </a:p>
        </p:txBody>
      </p:sp>
      <p:sp>
        <p:nvSpPr>
          <p:cNvPr id="7" name="question-impact">
            <a:extLst xmlns:a="http://schemas.openxmlformats.org/drawingml/2006/main">
              <a:ext uri="{FF2B5EF4-FFF2-40B4-BE49-F238E27FC236}">
                <a16:creationId xmlns:a16="http://schemas.microsoft.com/office/drawing/2014/main" id="{45902B57-0A11-40A0-934B-AD22BCA5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4000500" cy="3371850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F2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mpact-title">
            <a:extLst xmlns:a="http://schemas.openxmlformats.org/drawingml/2006/main">
              <a:ext uri="{FF2B5EF4-FFF2-40B4-BE49-F238E27FC236}">
                <a16:creationId xmlns:a16="http://schemas.microsoft.com/office/drawing/2014/main" id="{32CFC6BC-A215-48DF-AC1B-EEF13326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66950"/>
            <a:ext cx="331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왜 이 질문이 먼저인가</a:t>
            </a:r>
          </a:p>
        </p:txBody>
      </p:sp>
      <p:cxnSp>
        <p:nvCxnSpPr>
          <p:cNvPr id="57" name="impact-rule-0"/>
          <p:cNvCxnSpPr/>
          <p:nvPr/>
        </p:nvCxnSpPr>
        <p:spPr>
          <a:xfrm xmlns:a="http://schemas.openxmlformats.org/drawingml/2006/main">
            <a:off x="7581900" y="3371850"/>
            <a:ext cx="3314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10" name="impact-label-0">
            <a:extLst xmlns:a="http://schemas.openxmlformats.org/drawingml/2006/main">
              <a:ext uri="{FF2B5EF4-FFF2-40B4-BE49-F238E27FC236}">
                <a16:creationId xmlns:a16="http://schemas.microsoft.com/office/drawing/2014/main" id="{2024C713-B209-4EF3-8F95-5ACDC586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14650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자금 공백 변경 가능성</a:t>
            </a:r>
          </a:p>
        </p:txBody>
      </p:sp>
      <p:sp>
        <p:nvSpPr>
          <p:cNvPr id="11" name="impact-value-0">
            <a:extLst xmlns:a="http://schemas.openxmlformats.org/drawingml/2006/main">
              <a:ext uri="{FF2B5EF4-FFF2-40B4-BE49-F238E27FC236}">
                <a16:creationId xmlns:a16="http://schemas.microsoft.com/office/drawing/2014/main" id="{AD6C0F05-0AC1-4A69-814F-06D8A149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95600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1">
                <a:solidFill>
                  <a:srgbClr val="FFCC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CC00"/>
                </a:solidFill>
                <a:latin typeface="Malgun Gothic"/>
                <a:ea typeface="Malgun Gothic"/>
                <a:cs typeface="Malgun Gothic"/>
              </a:rPr>
              <a:t>높음</a:t>
            </a:r>
          </a:p>
        </p:txBody>
      </p:sp>
      <p:cxnSp>
        <p:nvCxnSpPr>
          <p:cNvPr id="60" name="impact-rule-1"/>
          <p:cNvCxnSpPr/>
          <p:nvPr/>
        </p:nvCxnSpPr>
        <p:spPr>
          <a:xfrm xmlns:a="http://schemas.openxmlformats.org/drawingml/2006/main">
            <a:off x="7581900" y="4095750"/>
            <a:ext cx="3314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13" name="impact-label-1">
            <a:extLst xmlns:a="http://schemas.openxmlformats.org/drawingml/2006/main">
              <a:ext uri="{FF2B5EF4-FFF2-40B4-BE49-F238E27FC236}">
                <a16:creationId xmlns:a16="http://schemas.microsoft.com/office/drawing/2014/main" id="{147B9EA9-FCD4-4868-A3FE-F3105237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38550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차단된 판정 해소</a:t>
            </a:r>
          </a:p>
        </p:txBody>
      </p:sp>
      <p:sp>
        <p:nvSpPr>
          <p:cNvPr id="14" name="impact-value-1">
            <a:extLst xmlns:a="http://schemas.openxmlformats.org/drawingml/2006/main">
              <a:ext uri="{FF2B5EF4-FFF2-40B4-BE49-F238E27FC236}">
                <a16:creationId xmlns:a16="http://schemas.microsoft.com/office/drawing/2014/main" id="{8505F644-ABDA-4F14-AE47-292946DA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19500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2개</a:t>
            </a:r>
          </a:p>
        </p:txBody>
      </p:sp>
      <p:cxnSp>
        <p:nvCxnSpPr>
          <p:cNvPr id="63" name="impact-rule-2"/>
          <p:cNvCxnSpPr/>
          <p:nvPr/>
        </p:nvCxnSpPr>
        <p:spPr>
          <a:xfrm xmlns:a="http://schemas.openxmlformats.org/drawingml/2006/main">
            <a:off x="7581900" y="4819650"/>
            <a:ext cx="3314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16" name="impact-label-2">
            <a:extLst xmlns:a="http://schemas.openxmlformats.org/drawingml/2006/main">
              <a:ext uri="{FF2B5EF4-FFF2-40B4-BE49-F238E27FC236}">
                <a16:creationId xmlns:a16="http://schemas.microsoft.com/office/drawing/2014/main" id="{6DF5AC5A-1285-4878-A74A-11E5CBEE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362450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사용자 답변 가능성</a:t>
            </a:r>
          </a:p>
        </p:txBody>
      </p:sp>
      <p:sp>
        <p:nvSpPr>
          <p:cNvPr id="17" name="impact-value-2">
            <a:extLst xmlns:a="http://schemas.openxmlformats.org/drawingml/2006/main">
              <a:ext uri="{FF2B5EF4-FFF2-40B4-BE49-F238E27FC236}">
                <a16:creationId xmlns:a16="http://schemas.microsoft.com/office/drawing/2014/main" id="{4EAEFEEA-5319-411F-9757-AFF5C6BB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343400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1">
                <a:solidFill>
                  <a:srgbClr val="2F7D6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2F7D62"/>
                </a:solidFill>
                <a:latin typeface="Malgun Gothic"/>
                <a:ea typeface="Malgun Gothic"/>
                <a:cs typeface="Malgun Gothic"/>
              </a:rPr>
              <a:t>즉시</a:t>
            </a:r>
          </a:p>
        </p:txBody>
      </p:sp>
      <p:sp>
        <p:nvSpPr>
          <p:cNvPr id="18" name="question-footer">
            <a:extLst xmlns:a="http://schemas.openxmlformats.org/drawingml/2006/main">
              <a:ext uri="{FF2B5EF4-FFF2-40B4-BE49-F238E27FC236}">
                <a16:creationId xmlns:a16="http://schemas.microsoft.com/office/drawing/2014/main" id="{FDB84668-F19E-4117-B4DA-C975CF9D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누락정보를 많이 묻는 것이 아니라, 결정을 바꾸는 정보를 먼저 묻습니다.</a:t>
            </a:r>
          </a:p>
        </p:txBody>
      </p:sp>
    </p:spTree>
    <p:extLst>
      <p:ext uri="{BB962C8B-B14F-4D97-AF65-F5344CB8AC3E}">
        <p14:creationId xmlns:p14="http://schemas.microsoft.com/office/powerpoint/2010/main" val="10185614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7">
            <a:extLst xmlns:a="http://schemas.openxmlformats.org/drawingml/2006/main">
              <a:ext uri="{FF2B5EF4-FFF2-40B4-BE49-F238E27FC236}">
                <a16:creationId xmlns:a16="http://schemas.microsoft.com/office/drawing/2014/main" id="{A9972212-022C-4D13-9D19-58DEE772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DIFFERENTIATION 2/3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E0FFDEBF-E0E1-4057-9C45-6C9F626F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조건 변경이 여러 결정을 어떻게 바꾸는지 증명합니다</a:t>
            </a:r>
          </a:p>
        </p:txBody>
      </p:sp>
      <p:cxnSp>
        <p:nvCxnSpPr>
          <p:cNvPr id="78" name="header-rule-7"/>
          <p:cNvCxnSpPr/>
          <p:nvPr/>
        </p:nvCxnSpPr>
        <p:spPr>
          <a:xfrm xmlns:a="http://schemas.openxmlformats.org/drawingml/2006/main">
            <a:off x="533400" y="1266825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03412007-F6A9-4054-AEA4-E6DDCBC3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5" name="delta-label">
            <a:extLst xmlns:a="http://schemas.openxmlformats.org/drawingml/2006/main">
              <a:ext uri="{FF2B5EF4-FFF2-40B4-BE49-F238E27FC236}">
                <a16:creationId xmlns:a16="http://schemas.microsoft.com/office/drawing/2014/main" id="{1F6DFE00-219E-42EF-B4E3-6AB179E5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DECISION DELTA</a:t>
            </a:r>
          </a:p>
        </p:txBody>
      </p:sp>
      <p:sp>
        <p:nvSpPr>
          <p:cNvPr id="6" name="delta-old">
            <a:extLst xmlns:a="http://schemas.openxmlformats.org/drawingml/2006/main">
              <a:ext uri="{FF2B5EF4-FFF2-40B4-BE49-F238E27FC236}">
                <a16:creationId xmlns:a16="http://schemas.microsoft.com/office/drawing/2014/main" id="{D6BD6985-5979-4912-AB52-725E26A7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수취 D+60</a:t>
            </a:r>
          </a:p>
        </p:txBody>
      </p:sp>
      <p:sp>
        <p:nvSpPr>
          <p:cNvPr id="7" name="delta-arrow">
            <a:extLst xmlns:a="http://schemas.openxmlformats.org/drawingml/2006/main">
              <a:ext uri="{FF2B5EF4-FFF2-40B4-BE49-F238E27FC236}">
                <a16:creationId xmlns:a16="http://schemas.microsoft.com/office/drawing/2014/main" id="{753E035C-F9BD-4003-BC23-14B6238B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8" name="delta-new">
            <a:extLst xmlns:a="http://schemas.openxmlformats.org/drawingml/2006/main">
              <a:ext uri="{FF2B5EF4-FFF2-40B4-BE49-F238E27FC236}">
                <a16:creationId xmlns:a16="http://schemas.microsoft.com/office/drawing/2014/main" id="{22BD2286-D191-4B31-8DB4-96C76598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C8483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C8483C"/>
                </a:solidFill>
                <a:latin typeface="Malgun Gothic"/>
                <a:ea typeface="Malgun Gothic"/>
                <a:cs typeface="Malgun Gothic"/>
              </a:rPr>
              <a:t>수취 D+90</a:t>
            </a:r>
          </a:p>
        </p:txBody>
      </p:sp>
      <p:sp>
        <p:nvSpPr>
          <p:cNvPr id="9" name="delta-cause">
            <a:extLst xmlns:a="http://schemas.openxmlformats.org/drawingml/2006/main">
              <a:ext uri="{FF2B5EF4-FFF2-40B4-BE49-F238E27FC236}">
                <a16:creationId xmlns:a16="http://schemas.microsoft.com/office/drawing/2014/main" id="{821F7187-2DD4-4368-81BB-2C613C07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결제조건 30일 지연 반영</a:t>
            </a:r>
          </a:p>
        </p:txBody>
      </p:sp>
      <p:sp>
        <p:nvSpPr>
          <p:cNvPr id="10" name="delta-next">
            <a:extLst xmlns:a="http://schemas.openxmlformats.org/drawingml/2006/main">
              <a:ext uri="{FF2B5EF4-FFF2-40B4-BE49-F238E27FC236}">
                <a16:creationId xmlns:a16="http://schemas.microsoft.com/office/drawing/2014/main" id="{0455F976-0B80-4B53-984B-E91029A2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다음 확인: 바이어 신용·보험 가능 여부</a:t>
            </a:r>
          </a:p>
        </p:txBody>
      </p:sp>
      <p:sp>
        <p:nvSpPr>
          <p:cNvPr id="11" name="demo-screen-frame">
            <a:extLst xmlns:a="http://schemas.openxmlformats.org/drawingml/2006/main">
              <a:ext uri="{FF2B5EF4-FFF2-40B4-BE49-F238E27FC236}">
                <a16:creationId xmlns:a16="http://schemas.microsoft.com/office/drawing/2014/main" id="{64B81743-8B51-45C3-8623-C4F02BF1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19250"/>
            <a:ext cx="6991350" cy="4267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8C5"/>
            </a:solidFill>
            <a:prstDash val="solid"/>
          </a:ln>
        </p:spPr>
      </p:sp>
      <p:sp>
        <p:nvSpPr>
          <p:cNvPr id="12" name="demo-screen-header">
            <a:extLst xmlns:a="http://schemas.openxmlformats.org/drawingml/2006/main">
              <a:ext uri="{FF2B5EF4-FFF2-40B4-BE49-F238E27FC236}">
                <a16:creationId xmlns:a16="http://schemas.microsoft.com/office/drawing/2014/main" id="{56410FEB-1CBD-4B79-9182-E23A6B2E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19250"/>
            <a:ext cx="6991350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F2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emo-dot-1">
            <a:extLst xmlns:a="http://schemas.openxmlformats.org/drawingml/2006/main">
              <a:ext uri="{FF2B5EF4-FFF2-40B4-BE49-F238E27FC236}">
                <a16:creationId xmlns:a16="http://schemas.microsoft.com/office/drawing/2014/main" id="{6966727F-A323-4D31-A475-14FC8AC5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47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emo-dot-2">
            <a:extLst xmlns:a="http://schemas.openxmlformats.org/drawingml/2006/main">
              <a:ext uri="{FF2B5EF4-FFF2-40B4-BE49-F238E27FC236}">
                <a16:creationId xmlns:a16="http://schemas.microsoft.com/office/drawing/2014/main" id="{7194E6C4-F126-485D-AE32-82D16D7B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emo-dot-3">
            <a:extLst xmlns:a="http://schemas.openxmlformats.org/drawingml/2006/main">
              <a:ext uri="{FF2B5EF4-FFF2-40B4-BE49-F238E27FC236}">
                <a16:creationId xmlns:a16="http://schemas.microsoft.com/office/drawing/2014/main" id="{062B7AC0-9383-43F2-B938-377CA1D1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47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emo-screen-label">
            <a:extLst xmlns:a="http://schemas.openxmlformats.org/drawingml/2006/main">
              <a:ext uri="{FF2B5EF4-FFF2-40B4-BE49-F238E27FC236}">
                <a16:creationId xmlns:a16="http://schemas.microsoft.com/office/drawing/2014/main" id="{0C908882-9732-4FAF-9B9C-3F911E9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8097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DEMO SCREEN</a:t>
            </a:r>
          </a:p>
        </p:txBody>
      </p:sp>
      <p:sp>
        <p:nvSpPr>
          <p:cNvPr id="17" name="demo-screen-title">
            <a:extLst xmlns:a="http://schemas.openxmlformats.org/drawingml/2006/main">
              <a:ext uri="{FF2B5EF4-FFF2-40B4-BE49-F238E27FC236}">
                <a16:creationId xmlns:a16="http://schemas.microsoft.com/office/drawing/2014/main" id="{7534BE04-9E7E-46C1-A00D-F32F4A6F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336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결제조건 변경으로 다시 계산했습니다</a:t>
            </a:r>
          </a:p>
        </p:txBody>
      </p:sp>
      <p:sp>
        <p:nvSpPr>
          <p:cNvPr id="18" name="demo-stat-label-0">
            <a:extLst xmlns:a="http://schemas.openxmlformats.org/drawingml/2006/main">
              <a:ext uri="{FF2B5EF4-FFF2-40B4-BE49-F238E27FC236}">
                <a16:creationId xmlns:a16="http://schemas.microsoft.com/office/drawing/2014/main" id="{0C6FEE0A-22CA-4CF5-83C1-8B0EE7AD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5755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자금 공백</a:t>
            </a:r>
          </a:p>
        </p:txBody>
      </p:sp>
      <p:sp>
        <p:nvSpPr>
          <p:cNvPr id="19" name="demo-stat-value-0">
            <a:extLst xmlns:a="http://schemas.openxmlformats.org/drawingml/2006/main">
              <a:ext uri="{FF2B5EF4-FFF2-40B4-BE49-F238E27FC236}">
                <a16:creationId xmlns:a16="http://schemas.microsoft.com/office/drawing/2014/main" id="{EF9C6E08-FF10-4A6B-9F70-927E64E5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004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60 → 90일</a:t>
            </a:r>
          </a:p>
        </p:txBody>
      </p:sp>
      <p:sp>
        <p:nvSpPr>
          <p:cNvPr id="20" name="demo-stat-label-1">
            <a:extLst xmlns:a="http://schemas.openxmlformats.org/drawingml/2006/main">
              <a:ext uri="{FF2B5EF4-FFF2-40B4-BE49-F238E27FC236}">
                <a16:creationId xmlns:a16="http://schemas.microsoft.com/office/drawing/2014/main" id="{10898031-D6A2-4062-B977-C48AAE11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5755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환노출</a:t>
            </a:r>
          </a:p>
        </p:txBody>
      </p:sp>
      <p:sp>
        <p:nvSpPr>
          <p:cNvPr id="21" name="demo-stat-value-1">
            <a:extLst xmlns:a="http://schemas.openxmlformats.org/drawingml/2006/main">
              <a:ext uri="{FF2B5EF4-FFF2-40B4-BE49-F238E27FC236}">
                <a16:creationId xmlns:a16="http://schemas.microsoft.com/office/drawing/2014/main" id="{BC88A281-B1B1-4BCB-AA7E-83339A0C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004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C8483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C8483C"/>
                </a:solidFill>
                <a:latin typeface="Malgun Gothic"/>
                <a:ea typeface="Malgun Gothic"/>
                <a:cs typeface="Malgun Gothic"/>
              </a:rPr>
              <a:t>60 → 90일</a:t>
            </a:r>
          </a:p>
        </p:txBody>
      </p:sp>
      <p:sp>
        <p:nvSpPr>
          <p:cNvPr id="22" name="demo-stat-label-2">
            <a:extLst xmlns:a="http://schemas.openxmlformats.org/drawingml/2006/main">
              <a:ext uri="{FF2B5EF4-FFF2-40B4-BE49-F238E27FC236}">
                <a16:creationId xmlns:a16="http://schemas.microsoft.com/office/drawing/2014/main" id="{6311DB88-7B66-404C-AA52-8DC0B7FC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5755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금융기간</a:t>
            </a:r>
          </a:p>
        </p:txBody>
      </p:sp>
      <p:sp>
        <p:nvSpPr>
          <p:cNvPr id="23" name="demo-stat-value-2">
            <a:extLst xmlns:a="http://schemas.openxmlformats.org/drawingml/2006/main">
              <a:ext uri="{FF2B5EF4-FFF2-40B4-BE49-F238E27FC236}">
                <a16:creationId xmlns:a16="http://schemas.microsoft.com/office/drawing/2014/main" id="{BA06B84C-CB0D-459F-9111-42A80A3D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004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+30일 검토</a:t>
            </a:r>
          </a:p>
        </p:txBody>
      </p:sp>
      <p:cxnSp>
        <p:nvCxnSpPr>
          <p:cNvPr id="99" name="demo-divider"/>
          <p:cNvCxnSpPr/>
          <p:nvPr/>
        </p:nvCxnSpPr>
        <p:spPr>
          <a:xfrm xmlns:a="http://schemas.openxmlformats.org/drawingml/2006/main">
            <a:off x="4933950" y="4229100"/>
            <a:ext cx="6172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25" name="demo-explanation">
            <a:extLst xmlns:a="http://schemas.openxmlformats.org/drawingml/2006/main">
              <a:ext uri="{FF2B5EF4-FFF2-40B4-BE49-F238E27FC236}">
                <a16:creationId xmlns:a16="http://schemas.microsoft.com/office/drawing/2014/main" id="{BCF6F64D-D45C-4E54-BD91-2F013CC1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514850"/>
            <a:ext cx="4800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같은 금액이라도 수취가 늦어지면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공백·환노출·금융 필요기간이 함께 늘어납니다.</a:t>
            </a:r>
          </a:p>
        </p:txBody>
      </p:sp>
      <p:sp>
        <p:nvSpPr>
          <p:cNvPr id="26" name="demo-next">
            <a:extLst xmlns:a="http://schemas.openxmlformats.org/drawingml/2006/main">
              <a:ext uri="{FF2B5EF4-FFF2-40B4-BE49-F238E27FC236}">
                <a16:creationId xmlns:a16="http://schemas.microsoft.com/office/drawing/2014/main" id="{59B2578C-0D0E-4477-9B0D-6B8132AE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495800"/>
            <a:ext cx="13335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demo-next-text">
            <a:extLst xmlns:a="http://schemas.openxmlformats.org/drawingml/2006/main">
              <a:ext uri="{FF2B5EF4-FFF2-40B4-BE49-F238E27FC236}">
                <a16:creationId xmlns:a16="http://schemas.microsoft.com/office/drawing/2014/main" id="{1E711094-8FCA-472C-8F94-B1BC64A3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667250"/>
            <a:ext cx="99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다음 확인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보험·신용</a:t>
            </a:r>
          </a:p>
        </p:txBody>
      </p:sp>
    </p:spTree>
    <p:extLst>
      <p:ext uri="{BB962C8B-B14F-4D97-AF65-F5344CB8AC3E}">
        <p14:creationId xmlns:p14="http://schemas.microsoft.com/office/powerpoint/2010/main" val="7653452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ection-8">
            <a:extLst xmlns:a="http://schemas.openxmlformats.org/drawingml/2006/main">
              <a:ext uri="{FF2B5EF4-FFF2-40B4-BE49-F238E27FC236}">
                <a16:creationId xmlns:a16="http://schemas.microsoft.com/office/drawing/2014/main" id="{D9B0D90A-239F-4979-9EC5-F824B4BE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DIFFERENTIATION 3/3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8EB4439C-066B-48D6-B5F9-C3296D34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결정 근거를 상담자료로 보존합니다</a:t>
            </a:r>
          </a:p>
        </p:txBody>
      </p:sp>
      <p:cxnSp>
        <p:nvCxnSpPr>
          <p:cNvPr id="69" name="header-rule-8"/>
          <p:cNvCxnSpPr/>
          <p:nvPr/>
        </p:nvCxnSpPr>
        <p:spPr>
          <a:xfrm xmlns:a="http://schemas.openxmlformats.org/drawingml/2006/main">
            <a:off x="533400" y="1266825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61DDA1B4-86DD-45A4-BCA6-D6EAF2A6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5" name="passport-sheet">
            <a:extLst xmlns:a="http://schemas.openxmlformats.org/drawingml/2006/main">
              <a:ext uri="{FF2B5EF4-FFF2-40B4-BE49-F238E27FC236}">
                <a16:creationId xmlns:a16="http://schemas.microsoft.com/office/drawing/2014/main" id="{98F91DD9-647A-4960-9417-9CB46B84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6858000" cy="43434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8C5"/>
            </a:solidFill>
            <a:prstDash val="solid"/>
          </a:ln>
        </p:spPr>
      </p:sp>
      <p:sp>
        <p:nvSpPr>
          <p:cNvPr id="6" name="passport-band">
            <a:extLst xmlns:a="http://schemas.openxmlformats.org/drawingml/2006/main">
              <a:ext uri="{FF2B5EF4-FFF2-40B4-BE49-F238E27FC236}">
                <a16:creationId xmlns:a16="http://schemas.microsoft.com/office/drawing/2014/main" id="{803E1DF0-C6E5-4F05-A3FF-F4EE1D1A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6858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ssport-title">
            <a:extLst xmlns:a="http://schemas.openxmlformats.org/drawingml/2006/main">
              <a:ext uri="{FF2B5EF4-FFF2-40B4-BE49-F238E27FC236}">
                <a16:creationId xmlns:a16="http://schemas.microsoft.com/office/drawing/2014/main" id="{14DAF1DA-AD63-4681-9702-4199C227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Decision Passport</a:t>
            </a:r>
          </a:p>
        </p:txBody>
      </p:sp>
      <p:cxnSp>
        <p:nvCxnSpPr>
          <p:cNvPr id="74" name="passport-rule-0"/>
          <p:cNvCxnSpPr/>
          <p:nvPr/>
        </p:nvCxnSpPr>
        <p:spPr>
          <a:xfrm xmlns:a="http://schemas.openxmlformats.org/drawingml/2006/main">
            <a:off x="1009650" y="3028950"/>
            <a:ext cx="6286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9" name="passport-key-0">
            <a:extLst xmlns:a="http://schemas.openxmlformats.org/drawingml/2006/main">
              <a:ext uri="{FF2B5EF4-FFF2-40B4-BE49-F238E27FC236}">
                <a16:creationId xmlns:a16="http://schemas.microsoft.com/office/drawing/2014/main" id="{89B7771F-19DB-478B-B1FD-DF89BA4D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2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사실</a:t>
            </a:r>
          </a:p>
        </p:txBody>
      </p:sp>
      <p:sp>
        <p:nvSpPr>
          <p:cNvPr id="10" name="passport-value-0">
            <a:extLst xmlns:a="http://schemas.openxmlformats.org/drawingml/2006/main">
              <a:ext uri="{FF2B5EF4-FFF2-40B4-BE49-F238E27FC236}">
                <a16:creationId xmlns:a16="http://schemas.microsoft.com/office/drawing/2014/main" id="{93CE3804-E815-4643-AC18-64BB888A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28900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거래 2건 · 통화 USD · 결제일 2개</a:t>
            </a:r>
          </a:p>
        </p:txBody>
      </p:sp>
      <p:cxnSp>
        <p:nvCxnSpPr>
          <p:cNvPr id="77" name="passport-rule-1"/>
          <p:cNvCxnSpPr/>
          <p:nvPr/>
        </p:nvCxnSpPr>
        <p:spPr>
          <a:xfrm xmlns:a="http://schemas.openxmlformats.org/drawingml/2006/main">
            <a:off x="1009650" y="3638550"/>
            <a:ext cx="6286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12" name="passport-key-1">
            <a:extLst xmlns:a="http://schemas.openxmlformats.org/drawingml/2006/main">
              <a:ext uri="{FF2B5EF4-FFF2-40B4-BE49-F238E27FC236}">
                <a16:creationId xmlns:a16="http://schemas.microsoft.com/office/drawing/2014/main" id="{7A0EDA73-C2C7-4937-83B5-1B9884F9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계산</a:t>
            </a:r>
          </a:p>
        </p:txBody>
      </p:sp>
      <p:sp>
        <p:nvSpPr>
          <p:cNvPr id="13" name="passport-value-1">
            <a:extLst xmlns:a="http://schemas.openxmlformats.org/drawingml/2006/main">
              <a:ext uri="{FF2B5EF4-FFF2-40B4-BE49-F238E27FC236}">
                <a16:creationId xmlns:a16="http://schemas.microsoft.com/office/drawing/2014/main" id="{A9E9F880-0C18-4CD7-B395-B379723B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38500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자금 공백 60,000 · 순노출 40,000</a:t>
            </a:r>
          </a:p>
        </p:txBody>
      </p:sp>
      <p:cxnSp>
        <p:nvCxnSpPr>
          <p:cNvPr id="80" name="passport-rule-2"/>
          <p:cNvCxnSpPr/>
          <p:nvPr/>
        </p:nvCxnSpPr>
        <p:spPr>
          <a:xfrm xmlns:a="http://schemas.openxmlformats.org/drawingml/2006/main">
            <a:off x="1009650" y="4248150"/>
            <a:ext cx="6286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15" name="passport-key-2">
            <a:extLst xmlns:a="http://schemas.openxmlformats.org/drawingml/2006/main">
              <a:ext uri="{FF2B5EF4-FFF2-40B4-BE49-F238E27FC236}">
                <a16:creationId xmlns:a16="http://schemas.microsoft.com/office/drawing/2014/main" id="{280989D7-CE84-4977-86F6-B9F049F0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규칙</a:t>
            </a:r>
          </a:p>
        </p:txBody>
      </p:sp>
      <p:sp>
        <p:nvSpPr>
          <p:cNvPr id="16" name="passport-value-2">
            <a:extLst xmlns:a="http://schemas.openxmlformats.org/drawingml/2006/main">
              <a:ext uri="{FF2B5EF4-FFF2-40B4-BE49-F238E27FC236}">
                <a16:creationId xmlns:a16="http://schemas.microsoft.com/office/drawing/2014/main" id="{FD343579-AAC6-4DC4-9C0B-352D51A9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48100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rule ID · version · 검토 상태</a:t>
            </a:r>
          </a:p>
        </p:txBody>
      </p:sp>
      <p:cxnSp>
        <p:nvCxnSpPr>
          <p:cNvPr id="83" name="passport-rule-3"/>
          <p:cNvCxnSpPr/>
          <p:nvPr/>
        </p:nvCxnSpPr>
        <p:spPr>
          <a:xfrm xmlns:a="http://schemas.openxmlformats.org/drawingml/2006/main">
            <a:off x="1009650" y="4857750"/>
            <a:ext cx="6286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18" name="passport-key-3">
            <a:extLst xmlns:a="http://schemas.openxmlformats.org/drawingml/2006/main">
              <a:ext uri="{FF2B5EF4-FFF2-40B4-BE49-F238E27FC236}">
                <a16:creationId xmlns:a16="http://schemas.microsoft.com/office/drawing/2014/main" id="{B77624DB-1B25-40A8-AA9D-CCCA4A85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577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출처</a:t>
            </a:r>
          </a:p>
        </p:txBody>
      </p:sp>
      <p:sp>
        <p:nvSpPr>
          <p:cNvPr id="19" name="passport-value-3">
            <a:extLst xmlns:a="http://schemas.openxmlformats.org/drawingml/2006/main">
              <a:ext uri="{FF2B5EF4-FFF2-40B4-BE49-F238E27FC236}">
                <a16:creationId xmlns:a16="http://schemas.microsoft.com/office/drawing/2014/main" id="{03F89856-2ACB-4259-973C-5603552B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57700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공식 URL · 기준일 · content hash</a:t>
            </a:r>
          </a:p>
        </p:txBody>
      </p:sp>
      <p:cxnSp>
        <p:nvCxnSpPr>
          <p:cNvPr id="86" name="passport-rule-4"/>
          <p:cNvCxnSpPr/>
          <p:nvPr/>
        </p:nvCxnSpPr>
        <p:spPr>
          <a:xfrm xmlns:a="http://schemas.openxmlformats.org/drawingml/2006/main">
            <a:off x="1009650" y="5467350"/>
            <a:ext cx="6286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21" name="passport-key-4">
            <a:extLst xmlns:a="http://schemas.openxmlformats.org/drawingml/2006/main">
              <a:ext uri="{FF2B5EF4-FFF2-40B4-BE49-F238E27FC236}">
                <a16:creationId xmlns:a16="http://schemas.microsoft.com/office/drawing/2014/main" id="{40A0D914-8763-41EE-A606-728DA15E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673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미확인</a:t>
            </a:r>
          </a:p>
        </p:txBody>
      </p:sp>
      <p:sp>
        <p:nvSpPr>
          <p:cNvPr id="22" name="passport-value-4">
            <a:extLst xmlns:a="http://schemas.openxmlformats.org/drawingml/2006/main">
              <a:ext uri="{FF2B5EF4-FFF2-40B4-BE49-F238E27FC236}">
                <a16:creationId xmlns:a16="http://schemas.microsoft.com/office/drawing/2014/main" id="{E68ED07A-F625-4446-B895-26269D37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67300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사전상담 여부 · 추가 필요서류</a:t>
            </a:r>
          </a:p>
        </p:txBody>
      </p:sp>
      <p:sp>
        <p:nvSpPr>
          <p:cNvPr id="23" name="passport-arrow">
            <a:extLst xmlns:a="http://schemas.openxmlformats.org/drawingml/2006/main">
              <a:ext uri="{FF2B5EF4-FFF2-40B4-BE49-F238E27FC236}">
                <a16:creationId xmlns:a16="http://schemas.microsoft.com/office/drawing/2014/main" id="{0A5C6CD6-5AE8-455C-A46F-143E0044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38500"/>
            <a:ext cx="781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4" name="passport-outcome">
            <a:extLst xmlns:a="http://schemas.openxmlformats.org/drawingml/2006/main">
              <a:ext uri="{FF2B5EF4-FFF2-40B4-BE49-F238E27FC236}">
                <a16:creationId xmlns:a16="http://schemas.microsoft.com/office/drawing/2014/main" id="{BE9EB251-42AB-48AD-983C-6CE13D74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57450"/>
            <a:ext cx="266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금융기관이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검토할 수 있는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최소 결정 패킷</a:t>
            </a:r>
          </a:p>
        </p:txBody>
      </p:sp>
      <p:sp>
        <p:nvSpPr>
          <p:cNvPr id="25" name="passport-boundary">
            <a:extLst xmlns:a="http://schemas.openxmlformats.org/drawingml/2006/main">
              <a:ext uri="{FF2B5EF4-FFF2-40B4-BE49-F238E27FC236}">
                <a16:creationId xmlns:a16="http://schemas.microsoft.com/office/drawing/2014/main" id="{22A5C9C2-DD72-45C6-82B2-D51B8000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400550"/>
            <a:ext cx="25146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2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ssport-boundary-text">
            <a:extLst xmlns:a="http://schemas.openxmlformats.org/drawingml/2006/main">
              <a:ext uri="{FF2B5EF4-FFF2-40B4-BE49-F238E27FC236}">
                <a16:creationId xmlns:a16="http://schemas.microsoft.com/office/drawing/2014/main" id="{13DD80D8-3B82-4CC3-9E54-17681162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101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자동 승인 아님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은행 검증 상태와 분리</a:t>
            </a:r>
          </a:p>
        </p:txBody>
      </p:sp>
    </p:spTree>
    <p:extLst>
      <p:ext uri="{BB962C8B-B14F-4D97-AF65-F5344CB8AC3E}">
        <p14:creationId xmlns:p14="http://schemas.microsoft.com/office/powerpoint/2010/main" val="9795613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9">
            <a:extLst xmlns:a="http://schemas.openxmlformats.org/drawingml/2006/main">
              <a:ext uri="{FF2B5EF4-FFF2-40B4-BE49-F238E27FC236}">
                <a16:creationId xmlns:a16="http://schemas.microsoft.com/office/drawing/2014/main" id="{ED7A41D3-50B5-44A9-B8AA-8D6A76C4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TECHNOLOGY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85916A87-C971-4C35-B096-2FCE8156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계약조건을 결제일 원장으로 바꿔 위험을 재계산합니다</a:t>
            </a:r>
          </a:p>
        </p:txBody>
      </p:sp>
      <p:cxnSp>
        <p:nvCxnSpPr>
          <p:cNvPr id="21" name="header-rule-9"/>
          <p:cNvCxnSpPr/>
          <p:nvPr/>
        </p:nvCxnSpPr>
        <p:spPr>
          <a:xfrm xmlns:a="http://schemas.openxmlformats.org/drawingml/2006/main">
            <a:off x="533400" y="1266825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6BF1211C-B375-48EB-B4F9-63E1E1E8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0ee1aa92ce549ef"/>
          </a:graphicData>
        </a:graphic>
      </p:graphicFrame>
      <p:sp>
        <p:nvSpPr>
          <p:cNvPr id="6" name="chart-formula-label">
            <a:extLst xmlns:a="http://schemas.openxmlformats.org/drawingml/2006/main">
              <a:ext uri="{FF2B5EF4-FFF2-40B4-BE49-F238E27FC236}">
                <a16:creationId xmlns:a16="http://schemas.microsoft.com/office/drawing/2014/main" id="{293FDCAD-A2A8-4070-884D-8F276C8F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669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CLAUSE TO CASH</a:t>
            </a:r>
          </a:p>
        </p:txBody>
      </p:sp>
      <p:sp>
        <p:nvSpPr>
          <p:cNvPr id="7" name="chart-formula">
            <a:extLst xmlns:a="http://schemas.openxmlformats.org/drawingml/2006/main">
              <a:ext uri="{FF2B5EF4-FFF2-40B4-BE49-F238E27FC236}">
                <a16:creationId xmlns:a16="http://schemas.microsoft.com/office/drawing/2014/main" id="{932546BC-EFBD-43E8-A479-86CB6A92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241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Payment Date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= Shipment + Term</a:t>
            </a:r>
          </a:p>
        </p:txBody>
      </p:sp>
      <p:sp>
        <p:nvSpPr>
          <p:cNvPr id="8" name="chart-insight">
            <a:extLst xmlns:a="http://schemas.openxmlformats.org/drawingml/2006/main">
              <a:ext uri="{FF2B5EF4-FFF2-40B4-BE49-F238E27FC236}">
                <a16:creationId xmlns:a16="http://schemas.microsoft.com/office/drawing/2014/main" id="{75211D6D-FC2A-4ECD-8D62-0515ED9D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33800"/>
            <a:ext cx="28575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hart-insight-value">
            <a:extLst xmlns:a="http://schemas.openxmlformats.org/drawingml/2006/main">
              <a:ext uri="{FF2B5EF4-FFF2-40B4-BE49-F238E27FC236}">
                <a16:creationId xmlns:a16="http://schemas.microsoft.com/office/drawing/2014/main" id="{297281AC-EA94-4BF0-B4A3-6C4CE01B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81450"/>
            <a:ext cx="240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D+60</a:t>
            </a:r>
          </a:p>
        </p:txBody>
      </p:sp>
      <p:sp>
        <p:nvSpPr>
          <p:cNvPr id="10" name="chart-insight-copy">
            <a:extLst xmlns:a="http://schemas.openxmlformats.org/drawingml/2006/main">
              <a:ext uri="{FF2B5EF4-FFF2-40B4-BE49-F238E27FC236}">
                <a16:creationId xmlns:a16="http://schemas.microsoft.com/office/drawing/2014/main" id="{8208F520-17A1-452C-A7B6-E05F1301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29150"/>
            <a:ext cx="240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선적일과 결제조건을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실제 수취 이벤트로 변환</a:t>
            </a:r>
          </a:p>
        </p:txBody>
      </p:sp>
    </p:spTree>
    <p:extLst>
      <p:ext uri="{BB962C8B-B14F-4D97-AF65-F5344CB8AC3E}">
        <p14:creationId xmlns:p14="http://schemas.microsoft.com/office/powerpoint/2010/main" val="18101857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10">
            <a:extLst xmlns:a="http://schemas.openxmlformats.org/drawingml/2006/main">
              <a:ext uri="{FF2B5EF4-FFF2-40B4-BE49-F238E27FC236}">
                <a16:creationId xmlns:a16="http://schemas.microsoft.com/office/drawing/2014/main" id="{1946E3AD-9DEA-4D38-B1EE-A82DECC1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TECHNOLOGY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E95D4434-5291-4B26-9335-94CF6177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LLM은 설명하고, 엔진은 금액과 판정을 책임집니다</a:t>
            </a:r>
          </a:p>
        </p:txBody>
      </p:sp>
      <p:cxnSp>
        <p:nvCxnSpPr>
          <p:cNvPr id="41" name="header-rule-10"/>
          <p:cNvCxnSpPr/>
          <p:nvPr/>
        </p:nvCxnSpPr>
        <p:spPr>
          <a:xfrm xmlns:a="http://schemas.openxmlformats.org/drawingml/2006/main">
            <a:off x="533400" y="1266825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895F97DC-476A-4C16-831C-070E6730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cxnSp>
        <p:nvCxnSpPr>
          <p:cNvPr id="43" name="arch-line-1"/>
          <p:cNvCxnSpPr/>
          <p:nvPr/>
        </p:nvCxnSpPr>
        <p:spPr>
          <a:xfrm xmlns:a="http://schemas.openxmlformats.org/drawingml/2006/main">
            <a:off x="2038350" y="3352800"/>
            <a:ext cx="1104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C8C5"/>
            </a:solidFill>
            <a:prstDash val="solid"/>
          </a:ln>
        </p:spPr>
      </p:cxnSp>
      <p:cxnSp>
        <p:nvCxnSpPr>
          <p:cNvPr id="44" name="arch-line-2"/>
          <p:cNvCxnSpPr/>
          <p:nvPr/>
        </p:nvCxnSpPr>
        <p:spPr>
          <a:xfrm xmlns:a="http://schemas.openxmlformats.org/drawingml/2006/main">
            <a:off x="4819650" y="3352800"/>
            <a:ext cx="1104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C8C5"/>
            </a:solidFill>
            <a:prstDash val="solid"/>
          </a:ln>
        </p:spPr>
      </p:cxnSp>
      <p:cxnSp>
        <p:nvCxnSpPr>
          <p:cNvPr id="45" name="arch-line-3"/>
          <p:cNvCxnSpPr/>
          <p:nvPr/>
        </p:nvCxnSpPr>
        <p:spPr>
          <a:xfrm xmlns:a="http://schemas.openxmlformats.org/drawingml/2006/main">
            <a:off x="7600950" y="3352800"/>
            <a:ext cx="1104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C8C5"/>
            </a:solidFill>
            <a:prstDash val="solid"/>
          </a:ln>
        </p:spPr>
      </p:cxnSp>
      <p:sp>
        <p:nvSpPr>
          <p:cNvPr id="8" name="arch-box-0">
            <a:extLst xmlns:a="http://schemas.openxmlformats.org/drawingml/2006/main">
              <a:ext uri="{FF2B5EF4-FFF2-40B4-BE49-F238E27FC236}">
                <a16:creationId xmlns:a16="http://schemas.microsoft.com/office/drawing/2014/main" id="{2D6AB2D3-D6ED-481E-B576-50DF5FE5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2286000" cy="2152650"/>
          </a:xfrm>
          <a:prstGeom xmlns:a="http://schemas.openxmlformats.org/drawingml/2006/main" prst="roundRect">
            <a:avLst>
              <a:gd name="adj" fmla="val 6195"/>
            </a:avLst>
          </a:prstGeom>
          <a:solidFill xmlns:a="http://schemas.openxmlformats.org/drawingml/2006/main">
            <a:srgbClr val="F2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rch-num-0">
            <a:extLst xmlns:a="http://schemas.openxmlformats.org/drawingml/2006/main">
              <a:ext uri="{FF2B5EF4-FFF2-40B4-BE49-F238E27FC236}">
                <a16:creationId xmlns:a16="http://schemas.microsoft.com/office/drawing/2014/main" id="{F623ADF8-1320-4DD0-961A-DEC9C68E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0" name="arch-label-0">
            <a:extLst xmlns:a="http://schemas.openxmlformats.org/drawingml/2006/main">
              <a:ext uri="{FF2B5EF4-FFF2-40B4-BE49-F238E27FC236}">
                <a16:creationId xmlns:a16="http://schemas.microsoft.com/office/drawing/2014/main" id="{D4B59710-1AF3-4DF2-805A-A9A5A0CD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확인된 사실</a:t>
            </a:r>
          </a:p>
        </p:txBody>
      </p:sp>
      <p:sp>
        <p:nvSpPr>
          <p:cNvPr id="11" name="arch-sub-0">
            <a:extLst xmlns:a="http://schemas.openxmlformats.org/drawingml/2006/main">
              <a:ext uri="{FF2B5EF4-FFF2-40B4-BE49-F238E27FC236}">
                <a16:creationId xmlns:a16="http://schemas.microsoft.com/office/drawing/2014/main" id="{05795C0F-42B4-4B03-97D4-A6ADB865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사용자 입력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문서 확인</a:t>
            </a:r>
          </a:p>
        </p:txBody>
      </p:sp>
      <p:sp>
        <p:nvSpPr>
          <p:cNvPr id="12" name="arch-box-1">
            <a:extLst xmlns:a="http://schemas.openxmlformats.org/drawingml/2006/main">
              <a:ext uri="{FF2B5EF4-FFF2-40B4-BE49-F238E27FC236}">
                <a16:creationId xmlns:a16="http://schemas.microsoft.com/office/drawing/2014/main" id="{BD540555-3496-4C06-BDD9-37E99A0D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86000"/>
            <a:ext cx="2286000" cy="2152650"/>
          </a:xfrm>
          <a:prstGeom xmlns:a="http://schemas.openxmlformats.org/drawingml/2006/main" prst="roundRect">
            <a:avLst>
              <a:gd name="adj" fmla="val 6195"/>
            </a:avLst>
          </a:prstGeom>
          <a:solidFill xmlns:a="http://schemas.openxmlformats.org/drawingml/2006/main">
            <a:srgbClr val="F2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rch-num-1">
            <a:extLst xmlns:a="http://schemas.openxmlformats.org/drawingml/2006/main">
              <a:ext uri="{FF2B5EF4-FFF2-40B4-BE49-F238E27FC236}">
                <a16:creationId xmlns:a16="http://schemas.microsoft.com/office/drawing/2014/main" id="{0316FEB4-CCEC-4BFF-AE78-57CF5760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9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arch-label-1">
            <a:extLst xmlns:a="http://schemas.openxmlformats.org/drawingml/2006/main">
              <a:ext uri="{FF2B5EF4-FFF2-40B4-BE49-F238E27FC236}">
                <a16:creationId xmlns:a16="http://schemas.microsoft.com/office/drawing/2014/main" id="{B9C25DFF-C20E-4AC3-AA8E-1E7D9B7C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908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결정론적 코어</a:t>
            </a:r>
          </a:p>
        </p:txBody>
      </p:sp>
      <p:sp>
        <p:nvSpPr>
          <p:cNvPr id="15" name="arch-sub-1">
            <a:extLst xmlns:a="http://schemas.openxmlformats.org/drawingml/2006/main">
              <a:ext uri="{FF2B5EF4-FFF2-40B4-BE49-F238E27FC236}">
                <a16:creationId xmlns:a16="http://schemas.microsoft.com/office/drawing/2014/main" id="{E480ECD3-E7A9-4193-9AED-F590C9A5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05200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자금 계산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근거 규칙</a:t>
            </a:r>
          </a:p>
        </p:txBody>
      </p:sp>
      <p:sp>
        <p:nvSpPr>
          <p:cNvPr id="16" name="arch-box-2">
            <a:extLst xmlns:a="http://schemas.openxmlformats.org/drawingml/2006/main">
              <a:ext uri="{FF2B5EF4-FFF2-40B4-BE49-F238E27FC236}">
                <a16:creationId xmlns:a16="http://schemas.microsoft.com/office/drawing/2014/main" id="{23271A78-E10F-45F1-9586-ADF2B3F9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86000"/>
            <a:ext cx="2286000" cy="2152650"/>
          </a:xfrm>
          <a:prstGeom xmlns:a="http://schemas.openxmlformats.org/drawingml/2006/main" prst="roundRect">
            <a:avLst>
              <a:gd name="adj" fmla="val 6195"/>
            </a:avLst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rch-num-2">
            <a:extLst xmlns:a="http://schemas.openxmlformats.org/drawingml/2006/main">
              <a:ext uri="{FF2B5EF4-FFF2-40B4-BE49-F238E27FC236}">
                <a16:creationId xmlns:a16="http://schemas.microsoft.com/office/drawing/2014/main" id="{3C044F94-978B-4964-99C9-D2C74133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8" name="arch-label-2">
            <a:extLst xmlns:a="http://schemas.openxmlformats.org/drawingml/2006/main">
              <a:ext uri="{FF2B5EF4-FFF2-40B4-BE49-F238E27FC236}">
                <a16:creationId xmlns:a16="http://schemas.microsoft.com/office/drawing/2014/main" id="{192DC6C2-908F-471C-B50F-C9C2DCB9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908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Decision Packet</a:t>
            </a:r>
          </a:p>
        </p:txBody>
      </p:sp>
      <p:sp>
        <p:nvSpPr>
          <p:cNvPr id="19" name="arch-sub-2">
            <a:extLst xmlns:a="http://schemas.openxmlformats.org/drawingml/2006/main">
              <a:ext uri="{FF2B5EF4-FFF2-40B4-BE49-F238E27FC236}">
                <a16:creationId xmlns:a16="http://schemas.microsoft.com/office/drawing/2014/main" id="{59E538BE-8B13-42B4-AEAA-82C6A438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05200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숫자·상태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출처·버전</a:t>
            </a:r>
          </a:p>
        </p:txBody>
      </p:sp>
      <p:sp>
        <p:nvSpPr>
          <p:cNvPr id="20" name="arch-box-3">
            <a:extLst xmlns:a="http://schemas.openxmlformats.org/drawingml/2006/main">
              <a:ext uri="{FF2B5EF4-FFF2-40B4-BE49-F238E27FC236}">
                <a16:creationId xmlns:a16="http://schemas.microsoft.com/office/drawing/2014/main" id="{AC7CCB8E-B210-4ED9-8F74-D9AEAD79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86000"/>
            <a:ext cx="2286000" cy="2152650"/>
          </a:xfrm>
          <a:prstGeom xmlns:a="http://schemas.openxmlformats.org/drawingml/2006/main" prst="roundRect">
            <a:avLst>
              <a:gd name="adj" fmla="val 6195"/>
            </a:avLst>
          </a:prstGeom>
          <a:solidFill xmlns:a="http://schemas.openxmlformats.org/drawingml/2006/main">
            <a:srgbClr val="F2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rch-num-3">
            <a:extLst xmlns:a="http://schemas.openxmlformats.org/drawingml/2006/main">
              <a:ext uri="{FF2B5EF4-FFF2-40B4-BE49-F238E27FC236}">
                <a16:creationId xmlns:a16="http://schemas.microsoft.com/office/drawing/2014/main" id="{17FF501A-041B-43B6-95EB-575CB912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9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2" name="arch-label-3">
            <a:extLst xmlns:a="http://schemas.openxmlformats.org/drawingml/2006/main">
              <a:ext uri="{FF2B5EF4-FFF2-40B4-BE49-F238E27FC236}">
                <a16:creationId xmlns:a16="http://schemas.microsoft.com/office/drawing/2014/main" id="{06B8575D-C03A-435A-9C23-BBAA5715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908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표현·검토</a:t>
            </a:r>
          </a:p>
        </p:txBody>
      </p:sp>
      <p:sp>
        <p:nvSpPr>
          <p:cNvPr id="23" name="arch-sub-3">
            <a:extLst xmlns:a="http://schemas.openxmlformats.org/drawingml/2006/main">
              <a:ext uri="{FF2B5EF4-FFF2-40B4-BE49-F238E27FC236}">
                <a16:creationId xmlns:a16="http://schemas.microsoft.com/office/drawing/2014/main" id="{BAC3F65B-273A-4240-86D6-493636DD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05200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LLM 설명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사람의 승인</a:t>
            </a:r>
          </a:p>
        </p:txBody>
      </p:sp>
      <p:sp>
        <p:nvSpPr>
          <p:cNvPr id="24" name="arch-boundary">
            <a:extLst xmlns:a="http://schemas.openxmlformats.org/drawingml/2006/main">
              <a:ext uri="{FF2B5EF4-FFF2-40B4-BE49-F238E27FC236}">
                <a16:creationId xmlns:a16="http://schemas.microsoft.com/office/drawing/2014/main" id="{467927BE-AAA1-410B-B8F0-0E0C0707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200650"/>
            <a:ext cx="784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같은 입력·같은 규칙 버전이면 같은 결정 패킷을 재현합니다.</a:t>
            </a:r>
          </a:p>
        </p:txBody>
      </p:sp>
    </p:spTree>
    <p:extLst>
      <p:ext uri="{BB962C8B-B14F-4D97-AF65-F5344CB8AC3E}">
        <p14:creationId xmlns:p14="http://schemas.microsoft.com/office/powerpoint/2010/main" val="15223421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11">
            <a:extLst xmlns:a="http://schemas.openxmlformats.org/drawingml/2006/main">
              <a:ext uri="{FF2B5EF4-FFF2-40B4-BE49-F238E27FC236}">
                <a16:creationId xmlns:a16="http://schemas.microsoft.com/office/drawing/2014/main" id="{3B476F9A-F91D-42B4-95D2-C0699AA1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VALIDATION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78BCCE42-105A-4B3E-BE8E-9AA0E7B2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검증된 기반 위에 Decision Twin 기능을 확장합니다</a:t>
            </a:r>
          </a:p>
        </p:txBody>
      </p:sp>
      <p:cxnSp>
        <p:nvCxnSpPr>
          <p:cNvPr id="26" name="header-rule-11"/>
          <p:cNvCxnSpPr/>
          <p:nvPr/>
        </p:nvCxnSpPr>
        <p:spPr>
          <a:xfrm xmlns:a="http://schemas.openxmlformats.org/drawingml/2006/main">
            <a:off x="533400" y="1266825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DDC74CE2-E41A-4C1B-82ED-C4C50A72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5" name="metric-panel-0">
            <a:extLst xmlns:a="http://schemas.openxmlformats.org/drawingml/2006/main">
              <a:ext uri="{FF2B5EF4-FFF2-40B4-BE49-F238E27FC236}">
                <a16:creationId xmlns:a16="http://schemas.microsoft.com/office/drawing/2014/main" id="{DE02647F-CEA2-4A36-8206-60D0F945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3352800" cy="30670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C854A6FC-3446-4699-AC31-60FFE03F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2819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17/17</a:t>
            </a:r>
          </a:p>
        </p:txBody>
      </p:sp>
      <p:sp>
        <p:nvSpPr>
          <p:cNvPr id="7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3221E206-3E3C-4165-A6CA-2C6B57C7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현재 기반</a:t>
            </a:r>
          </a:p>
        </p:txBody>
      </p:sp>
      <p:sp>
        <p:nvSpPr>
          <p:cNvPr id="8" name="metric-copy-0">
            <a:extLst xmlns:a="http://schemas.openxmlformats.org/drawingml/2006/main">
              <a:ext uri="{FF2B5EF4-FFF2-40B4-BE49-F238E27FC236}">
                <a16:creationId xmlns:a16="http://schemas.microsoft.com/office/drawing/2014/main" id="{838018E6-EA14-4C3B-8F46-C05B1BCE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819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거래·계산·Delta</a:t>
            </a:r>
          </a:p>
        </p:txBody>
      </p:sp>
      <p:sp>
        <p:nvSpPr>
          <p:cNvPr id="9" name="metric-panel-1">
            <a:extLst xmlns:a="http://schemas.openxmlformats.org/drawingml/2006/main">
              <a:ext uri="{FF2B5EF4-FFF2-40B4-BE49-F238E27FC236}">
                <a16:creationId xmlns:a16="http://schemas.microsoft.com/office/drawing/2014/main" id="{31265C77-A712-4F70-8846-60E0FD95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05000"/>
            <a:ext cx="3352800" cy="30670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2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C934802D-DACC-4B93-A93D-4109F55E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66950"/>
            <a:ext cx="2819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58/58</a:t>
            </a:r>
          </a:p>
        </p:txBody>
      </p:sp>
      <p:sp>
        <p:nvSpPr>
          <p:cNvPr id="11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16BD08C3-F3C4-486F-9E17-01CF46A2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9090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검증 기준</a:t>
            </a:r>
          </a:p>
        </p:txBody>
      </p:sp>
      <p:sp>
        <p:nvSpPr>
          <p:cNvPr id="12" name="metric-copy-1">
            <a:extLst xmlns:a="http://schemas.openxmlformats.org/drawingml/2006/main">
              <a:ext uri="{FF2B5EF4-FFF2-40B4-BE49-F238E27FC236}">
                <a16:creationId xmlns:a16="http://schemas.microsoft.com/office/drawing/2014/main" id="{4F4A88F3-5CAC-48AE-AB2C-8B6457A9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00500"/>
            <a:ext cx="2819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금액·상태·경계</a:t>
            </a:r>
          </a:p>
        </p:txBody>
      </p:sp>
      <p:sp>
        <p:nvSpPr>
          <p:cNvPr id="13" name="metric-panel-2">
            <a:extLst xmlns:a="http://schemas.openxmlformats.org/drawingml/2006/main">
              <a:ext uri="{FF2B5EF4-FFF2-40B4-BE49-F238E27FC236}">
                <a16:creationId xmlns:a16="http://schemas.microsoft.com/office/drawing/2014/main" id="{44400884-0A5A-4347-873B-B3666AF9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05000"/>
            <a:ext cx="3352800" cy="30670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2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098537F8-A0D5-406F-882B-20143BD3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66950"/>
            <a:ext cx="2819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4/4</a:t>
            </a:r>
          </a:p>
        </p:txBody>
      </p:sp>
      <p:sp>
        <p:nvSpPr>
          <p:cNvPr id="15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A57BD4D8-F6F7-4DDD-99E2-1885E4EA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9090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전 구간</a:t>
            </a:r>
          </a:p>
        </p:txBody>
      </p:sp>
      <p:sp>
        <p:nvSpPr>
          <p:cNvPr id="16" name="metric-copy-2">
            <a:extLst xmlns:a="http://schemas.openxmlformats.org/drawingml/2006/main">
              <a:ext uri="{FF2B5EF4-FFF2-40B4-BE49-F238E27FC236}">
                <a16:creationId xmlns:a16="http://schemas.microsoft.com/office/drawing/2014/main" id="{920BFCEE-382E-4CA3-B083-301183A2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00500"/>
            <a:ext cx="2819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화면 → API → 데이터</a:t>
            </a:r>
          </a:p>
        </p:txBody>
      </p:sp>
      <p:sp>
        <p:nvSpPr>
          <p:cNvPr id="17" name="metric-foot">
            <a:extLst xmlns:a="http://schemas.openxmlformats.org/drawingml/2006/main">
              <a:ext uri="{FF2B5EF4-FFF2-40B4-BE49-F238E27FC236}">
                <a16:creationId xmlns:a16="http://schemas.microsoft.com/office/drawing/2014/main" id="{9F943D87-61E2-46C3-8670-3EE40844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현재 구현 17/17 · 58/58 · E2E 4/4 | 목표 조항 추출·지연 시나리오·연쇄 전파</a:t>
            </a:r>
          </a:p>
        </p:txBody>
      </p:sp>
    </p:spTree>
    <p:extLst>
      <p:ext uri="{BB962C8B-B14F-4D97-AF65-F5344CB8AC3E}">
        <p14:creationId xmlns:p14="http://schemas.microsoft.com/office/powerpoint/2010/main" val="14287538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12">
            <a:extLst xmlns:a="http://schemas.openxmlformats.org/drawingml/2006/main">
              <a:ext uri="{FF2B5EF4-FFF2-40B4-BE49-F238E27FC236}">
                <a16:creationId xmlns:a16="http://schemas.microsoft.com/office/drawing/2014/main" id="{7E543B59-C341-46CE-B3BB-385DF7C0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GOVERNANCE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6BCE6283-5DD7-4669-BD3A-70D705B4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모르는 조건을 확정하지 않는 금융 AI</a:t>
            </a:r>
          </a:p>
        </p:txBody>
      </p:sp>
      <p:cxnSp>
        <p:nvCxnSpPr>
          <p:cNvPr id="29" name="header-rule-12"/>
          <p:cNvCxnSpPr/>
          <p:nvPr/>
        </p:nvCxnSpPr>
        <p:spPr>
          <a:xfrm xmlns:a="http://schemas.openxmlformats.org/drawingml/2006/main">
            <a:off x="533400" y="1266825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E9404565-7BF4-4F94-9E1E-4F81234F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cxnSp>
        <p:nvCxnSpPr>
          <p:cNvPr id="31" name="status-line"/>
          <p:cNvCxnSpPr/>
          <p:nvPr/>
        </p:nvCxnSpPr>
        <p:spPr>
          <a:xfrm xmlns:a="http://schemas.openxmlformats.org/drawingml/2006/main">
            <a:off x="1885950" y="3495675"/>
            <a:ext cx="828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C8C5"/>
            </a:solidFill>
            <a:prstDash val="solid"/>
          </a:ln>
        </p:spPr>
      </p:cxnSp>
      <p:sp>
        <p:nvSpPr>
          <p:cNvPr id="6" name="status-dot-0">
            <a:extLst xmlns:a="http://schemas.openxmlformats.org/drawingml/2006/main">
              <a:ext uri="{FF2B5EF4-FFF2-40B4-BE49-F238E27FC236}">
                <a16:creationId xmlns:a16="http://schemas.microsoft.com/office/drawing/2014/main" id="{42567884-D7F6-4CC0-8E4E-80B8D548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76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tus-label-0">
            <a:extLst xmlns:a="http://schemas.openxmlformats.org/drawingml/2006/main">
              <a:ext uri="{FF2B5EF4-FFF2-40B4-BE49-F238E27FC236}">
                <a16:creationId xmlns:a16="http://schemas.microsoft.com/office/drawing/2014/main" id="{AF9265AB-1BF2-4B23-9D17-6B1C2437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371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CONFIRMED</a:t>
            </a:r>
          </a:p>
        </p:txBody>
      </p:sp>
      <p:sp>
        <p:nvSpPr>
          <p:cNvPr id="8" name="status-copy-0">
            <a:extLst xmlns:a="http://schemas.openxmlformats.org/drawingml/2006/main">
              <a:ext uri="{FF2B5EF4-FFF2-40B4-BE49-F238E27FC236}">
                <a16:creationId xmlns:a16="http://schemas.microsoft.com/office/drawing/2014/main" id="{85218768-2596-468F-88AC-28EC092A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3371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확인된 사실·유효 출처</a:t>
            </a:r>
          </a:p>
        </p:txBody>
      </p:sp>
      <p:sp>
        <p:nvSpPr>
          <p:cNvPr id="9" name="status-dot-1">
            <a:extLst xmlns:a="http://schemas.openxmlformats.org/drawingml/2006/main">
              <a:ext uri="{FF2B5EF4-FFF2-40B4-BE49-F238E27FC236}">
                <a16:creationId xmlns:a16="http://schemas.microsoft.com/office/drawing/2014/main" id="{964AE2E3-9FAE-4A87-A033-AC78144C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76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tus-label-1">
            <a:extLst xmlns:a="http://schemas.openxmlformats.org/drawingml/2006/main">
              <a:ext uri="{FF2B5EF4-FFF2-40B4-BE49-F238E27FC236}">
                <a16:creationId xmlns:a16="http://schemas.microsoft.com/office/drawing/2014/main" id="{A5245E77-C2F7-4CF5-A872-00EAFC71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09800"/>
            <a:ext cx="3371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INSUFFICIENT</a:t>
            </a:r>
          </a:p>
        </p:txBody>
      </p:sp>
      <p:sp>
        <p:nvSpPr>
          <p:cNvPr id="11" name="status-copy-1">
            <a:extLst xmlns:a="http://schemas.openxmlformats.org/drawingml/2006/main">
              <a:ext uri="{FF2B5EF4-FFF2-40B4-BE49-F238E27FC236}">
                <a16:creationId xmlns:a16="http://schemas.microsoft.com/office/drawing/2014/main" id="{22AD9E45-1458-419B-B6C0-66E9B9BC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00500"/>
            <a:ext cx="3371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정보 부족·미지원 입력</a:t>
            </a:r>
          </a:p>
        </p:txBody>
      </p:sp>
      <p:sp>
        <p:nvSpPr>
          <p:cNvPr id="12" name="status-dot-2">
            <a:extLst xmlns:a="http://schemas.openxmlformats.org/drawingml/2006/main">
              <a:ext uri="{FF2B5EF4-FFF2-40B4-BE49-F238E27FC236}">
                <a16:creationId xmlns:a16="http://schemas.microsoft.com/office/drawing/2014/main" id="{AED3CE8C-522F-4C45-9835-6C36E2DA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76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8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atus-label-2">
            <a:extLst xmlns:a="http://schemas.openxmlformats.org/drawingml/2006/main">
              <a:ext uri="{FF2B5EF4-FFF2-40B4-BE49-F238E27FC236}">
                <a16:creationId xmlns:a16="http://schemas.microsoft.com/office/drawing/2014/main" id="{2A5DEB72-7714-405B-A35B-E9A69046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09800"/>
            <a:ext cx="3371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EXPERT REVIEW</a:t>
            </a:r>
          </a:p>
        </p:txBody>
      </p:sp>
      <p:sp>
        <p:nvSpPr>
          <p:cNvPr id="14" name="status-copy-2">
            <a:extLst xmlns:a="http://schemas.openxmlformats.org/drawingml/2006/main">
              <a:ext uri="{FF2B5EF4-FFF2-40B4-BE49-F238E27FC236}">
                <a16:creationId xmlns:a16="http://schemas.microsoft.com/office/drawing/2014/main" id="{267A506E-842B-4DDA-A304-D19C065C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00500"/>
            <a:ext cx="3371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draft 규칙·외부 승인</a:t>
            </a:r>
          </a:p>
        </p:txBody>
      </p:sp>
      <p:sp>
        <p:nvSpPr>
          <p:cNvPr id="15" name="status-band">
            <a:extLst xmlns:a="http://schemas.openxmlformats.org/drawingml/2006/main">
              <a:ext uri="{FF2B5EF4-FFF2-40B4-BE49-F238E27FC236}">
                <a16:creationId xmlns:a16="http://schemas.microsoft.com/office/drawing/2014/main" id="{00E27685-5AC0-494F-BCBA-814C8DBC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086350"/>
            <a:ext cx="8915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8C8C5"/>
            </a:solidFill>
            <a:prstDash val="solid"/>
          </a:ln>
        </p:spPr>
      </p:sp>
      <p:sp>
        <p:nvSpPr>
          <p:cNvPr id="16" name="status-band-text">
            <a:extLst xmlns:a="http://schemas.openxmlformats.org/drawingml/2006/main">
              <a:ext uri="{FF2B5EF4-FFF2-40B4-BE49-F238E27FC236}">
                <a16:creationId xmlns:a16="http://schemas.microsoft.com/office/drawing/2014/main" id="{682D9DD7-DBFE-40BB-98D2-6C6A2EA9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295900"/>
            <a:ext cx="834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운영 승인은 제품 일정의 외부 게이트이며, 우회하지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3962071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13">
            <a:extLst xmlns:a="http://schemas.openxmlformats.org/drawingml/2006/main">
              <a:ext uri="{FF2B5EF4-FFF2-40B4-BE49-F238E27FC236}">
                <a16:creationId xmlns:a16="http://schemas.microsoft.com/office/drawing/2014/main" id="{4B44D3DF-5BF1-42A3-B34C-4657E639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KB LINKAGE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ADA3D4BB-D3ED-4D97-9DB3-3B65FBC0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현재는 수동 인계, 향후에는 KB Adapter</a:t>
            </a:r>
          </a:p>
        </p:txBody>
      </p:sp>
      <p:cxnSp>
        <p:nvCxnSpPr>
          <p:cNvPr id="44" name="header-rule-13"/>
          <p:cNvCxnSpPr/>
          <p:nvPr/>
        </p:nvCxnSpPr>
        <p:spPr>
          <a:xfrm xmlns:a="http://schemas.openxmlformats.org/drawingml/2006/main">
            <a:off x="533400" y="1266825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4" name="page-13">
            <a:extLst xmlns:a="http://schemas.openxmlformats.org/drawingml/2006/main">
              <a:ext uri="{FF2B5EF4-FFF2-40B4-BE49-F238E27FC236}">
                <a16:creationId xmlns:a16="http://schemas.microsoft.com/office/drawing/2014/main" id="{017A29E8-B512-48CF-BAFA-D03C08AC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5" name="today-label">
            <a:extLst xmlns:a="http://schemas.openxmlformats.org/drawingml/2006/main">
              <a:ext uri="{FF2B5EF4-FFF2-40B4-BE49-F238E27FC236}">
                <a16:creationId xmlns:a16="http://schemas.microsoft.com/office/drawing/2014/main" id="{258EAB41-0001-4AC3-A3A1-68BC2349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NOW</a:t>
            </a:r>
          </a:p>
        </p:txBody>
      </p:sp>
      <p:sp>
        <p:nvSpPr>
          <p:cNvPr id="6" name="today-box">
            <a:extLst xmlns:a="http://schemas.openxmlformats.org/drawingml/2006/main">
              <a:ext uri="{FF2B5EF4-FFF2-40B4-BE49-F238E27FC236}">
                <a16:creationId xmlns:a16="http://schemas.microsoft.com/office/drawing/2014/main" id="{C85EC697-9A26-44B5-A009-DAA2583B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455295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2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oday-title">
            <a:extLst xmlns:a="http://schemas.openxmlformats.org/drawingml/2006/main">
              <a:ext uri="{FF2B5EF4-FFF2-40B4-BE49-F238E27FC236}">
                <a16:creationId xmlns:a16="http://schemas.microsoft.com/office/drawing/2014/main" id="{784AF28B-606D-4280-A216-D521AA80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3943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Manual Packet</a:t>
            </a:r>
          </a:p>
        </p:txBody>
      </p:sp>
      <p:sp>
        <p:nvSpPr>
          <p:cNvPr id="8" name="today-copy">
            <a:extLst xmlns:a="http://schemas.openxmlformats.org/drawingml/2006/main">
              <a:ext uri="{FF2B5EF4-FFF2-40B4-BE49-F238E27FC236}">
                <a16:creationId xmlns:a16="http://schemas.microsoft.com/office/drawing/2014/main" id="{962F01DD-6E8F-4166-B847-6198CA51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95650"/>
            <a:ext cx="3943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Decision Passport 다운로드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사용자 동의 후 수동 전달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user_recorded_not_bank_verified</a:t>
            </a:r>
          </a:p>
        </p:txBody>
      </p:sp>
      <p:sp>
        <p:nvSpPr>
          <p:cNvPr id="9" name="future-label">
            <a:extLst xmlns:a="http://schemas.openxmlformats.org/drawingml/2006/main">
              <a:ext uri="{FF2B5EF4-FFF2-40B4-BE49-F238E27FC236}">
                <a16:creationId xmlns:a16="http://schemas.microsoft.com/office/drawing/2014/main" id="{2D5BEEE6-0122-4C62-A720-9FC8633F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809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AFTER OFFICIAL CONTRACT</a:t>
            </a:r>
          </a:p>
        </p:txBody>
      </p:sp>
      <p:sp>
        <p:nvSpPr>
          <p:cNvPr id="10" name="future-box">
            <a:extLst xmlns:a="http://schemas.openxmlformats.org/drawingml/2006/main">
              <a:ext uri="{FF2B5EF4-FFF2-40B4-BE49-F238E27FC236}">
                <a16:creationId xmlns:a16="http://schemas.microsoft.com/office/drawing/2014/main" id="{C4198BDF-3F36-40D0-89D9-6E7D9114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09800"/>
            <a:ext cx="455295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uture-title">
            <a:extLst xmlns:a="http://schemas.openxmlformats.org/drawingml/2006/main">
              <a:ext uri="{FF2B5EF4-FFF2-40B4-BE49-F238E27FC236}">
                <a16:creationId xmlns:a16="http://schemas.microsoft.com/office/drawing/2014/main" id="{E65ECAEE-4D7D-45EF-A50A-1867476F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71750"/>
            <a:ext cx="3943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KB Adapter</a:t>
            </a:r>
          </a:p>
        </p:txBody>
      </p:sp>
      <p:sp>
        <p:nvSpPr>
          <p:cNvPr id="12" name="future-copy">
            <a:extLst xmlns:a="http://schemas.openxmlformats.org/drawingml/2006/main">
              <a:ext uri="{FF2B5EF4-FFF2-40B4-BE49-F238E27FC236}">
                <a16:creationId xmlns:a16="http://schemas.microsoft.com/office/drawing/2014/main" id="{08302E96-04C1-4D88-AF7D-CDD2182B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95650"/>
            <a:ext cx="3943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공식 인증·동의 계약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접수 callback·상태 reconciliation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은행 검증 상태 분리</a:t>
            </a:r>
          </a:p>
        </p:txBody>
      </p:sp>
      <p:cxnSp>
        <p:nvCxnSpPr>
          <p:cNvPr id="54" name="adapter-arrow"/>
          <p:cNvCxnSpPr/>
          <p:nvPr/>
        </p:nvCxnSpPr>
        <p:spPr>
          <a:xfrm xmlns:a="http://schemas.openxmlformats.org/drawingml/2006/main">
            <a:off x="5562600" y="3619500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11111"/>
            </a:solidFill>
            <a:prstDash val="solid"/>
          </a:ln>
        </p:spPr>
      </p:cxnSp>
      <p:sp>
        <p:nvSpPr>
          <p:cNvPr id="14" name="adapter-caption">
            <a:extLst xmlns:a="http://schemas.openxmlformats.org/drawingml/2006/main">
              <a:ext uri="{FF2B5EF4-FFF2-40B4-BE49-F238E27FC236}">
                <a16:creationId xmlns:a16="http://schemas.microsoft.com/office/drawing/2014/main" id="{C3D3F2BE-7E70-40AA-BFD7-91D7ABD7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9052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도메인 계약은 유지</a:t>
            </a:r>
          </a:p>
        </p:txBody>
      </p:sp>
      <p:sp>
        <p:nvSpPr>
          <p:cNvPr id="15" name="adapter-bottom">
            <a:extLst xmlns:a="http://schemas.openxmlformats.org/drawingml/2006/main">
              <a:ext uri="{FF2B5EF4-FFF2-40B4-BE49-F238E27FC236}">
                <a16:creationId xmlns:a16="http://schemas.microsoft.com/office/drawing/2014/main" id="{2383CF0D-C4FB-4D42-BB21-12322778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562600"/>
            <a:ext cx="754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현재 권한을 넘지 않으면서도 연계 지점을 이미 모듈화했습니다.</a:t>
            </a:r>
          </a:p>
        </p:txBody>
      </p:sp>
    </p:spTree>
    <p:extLst>
      <p:ext uri="{BB962C8B-B14F-4D97-AF65-F5344CB8AC3E}">
        <p14:creationId xmlns:p14="http://schemas.microsoft.com/office/powerpoint/2010/main" val="18572460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14">
            <a:extLst xmlns:a="http://schemas.openxmlformats.org/drawingml/2006/main">
              <a:ext uri="{FF2B5EF4-FFF2-40B4-BE49-F238E27FC236}">
                <a16:creationId xmlns:a16="http://schemas.microsoft.com/office/drawing/2014/main" id="{53F2F805-6DD4-45EC-9984-BC156F3C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ROADMAP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1ADE8331-5552-42FF-A06B-4097E041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Decision Twin의 남은 공백을 세 단계로 구현합니다</a:t>
            </a:r>
          </a:p>
        </p:txBody>
      </p:sp>
      <p:cxnSp>
        <p:nvCxnSpPr>
          <p:cNvPr id="36" name="header-rule-14"/>
          <p:cNvCxnSpPr/>
          <p:nvPr/>
        </p:nvCxnSpPr>
        <p:spPr>
          <a:xfrm xmlns:a="http://schemas.openxmlformats.org/drawingml/2006/main">
            <a:off x="533400" y="1266825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4" name="page-14">
            <a:extLst xmlns:a="http://schemas.openxmlformats.org/drawingml/2006/main">
              <a:ext uri="{FF2B5EF4-FFF2-40B4-BE49-F238E27FC236}">
                <a16:creationId xmlns:a16="http://schemas.microsoft.com/office/drawing/2014/main" id="{3AC127D2-80AC-421F-B6BA-14A82A10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cxnSp>
        <p:nvCxnSpPr>
          <p:cNvPr id="38" name="roadmap-line"/>
          <p:cNvCxnSpPr/>
          <p:nvPr/>
        </p:nvCxnSpPr>
        <p:spPr>
          <a:xfrm xmlns:a="http://schemas.openxmlformats.org/drawingml/2006/main">
            <a:off x="1219200" y="3600450"/>
            <a:ext cx="9734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C8C5"/>
            </a:solidFill>
            <a:prstDash val="solid"/>
          </a:ln>
        </p:spPr>
      </p:cxnSp>
      <p:sp>
        <p:nvSpPr>
          <p:cNvPr id="6" name="roadmap-dot-0">
            <a:extLst xmlns:a="http://schemas.openxmlformats.org/drawingml/2006/main">
              <a:ext uri="{FF2B5EF4-FFF2-40B4-BE49-F238E27FC236}">
                <a16:creationId xmlns:a16="http://schemas.microsoft.com/office/drawing/2014/main" id="{E9888BA8-0D36-4101-BE87-440FA921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90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oadmap-phase-0">
            <a:extLst xmlns:a="http://schemas.openxmlformats.org/drawingml/2006/main">
              <a:ext uri="{FF2B5EF4-FFF2-40B4-BE49-F238E27FC236}">
                <a16:creationId xmlns:a16="http://schemas.microsoft.com/office/drawing/2014/main" id="{46C24396-BEF9-4164-B9AE-3159DF05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지금</a:t>
            </a:r>
          </a:p>
        </p:txBody>
      </p:sp>
      <p:sp>
        <p:nvSpPr>
          <p:cNvPr id="8" name="roadmap-title-0">
            <a:extLst xmlns:a="http://schemas.openxmlformats.org/drawingml/2006/main">
              <a:ext uri="{FF2B5EF4-FFF2-40B4-BE49-F238E27FC236}">
                <a16:creationId xmlns:a16="http://schemas.microsoft.com/office/drawing/2014/main" id="{10B3D713-5146-4ED5-88C0-21BB520A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검증된 기반</a:t>
            </a:r>
          </a:p>
        </p:txBody>
      </p:sp>
      <p:sp>
        <p:nvSpPr>
          <p:cNvPr id="9" name="roadmap-sub-0">
            <a:extLst xmlns:a="http://schemas.openxmlformats.org/drawingml/2006/main">
              <a:ext uri="{FF2B5EF4-FFF2-40B4-BE49-F238E27FC236}">
                <a16:creationId xmlns:a16="http://schemas.microsoft.com/office/drawing/2014/main" id="{27BD0114-70E4-4DEB-A3FC-1B02E218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거래·현금흐름·Delta</a:t>
            </a:r>
          </a:p>
        </p:txBody>
      </p:sp>
      <p:sp>
        <p:nvSpPr>
          <p:cNvPr id="10" name="roadmap-dot-1">
            <a:extLst xmlns:a="http://schemas.openxmlformats.org/drawingml/2006/main">
              <a:ext uri="{FF2B5EF4-FFF2-40B4-BE49-F238E27FC236}">
                <a16:creationId xmlns:a16="http://schemas.microsoft.com/office/drawing/2014/main" id="{A60FFDF9-39BE-47E3-9A85-449C3554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390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oadmap-phase-1">
            <a:extLst xmlns:a="http://schemas.openxmlformats.org/drawingml/2006/main">
              <a:ext uri="{FF2B5EF4-FFF2-40B4-BE49-F238E27FC236}">
                <a16:creationId xmlns:a16="http://schemas.microsoft.com/office/drawing/2014/main" id="{F2F12517-1524-4A18-A00E-9BE6AECC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050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2" name="roadmap-title-1">
            <a:extLst xmlns:a="http://schemas.openxmlformats.org/drawingml/2006/main">
              <a:ext uri="{FF2B5EF4-FFF2-40B4-BE49-F238E27FC236}">
                <a16:creationId xmlns:a16="http://schemas.microsoft.com/office/drawing/2014/main" id="{6785F7FD-1F3D-4D01-87F4-A5FD00BE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7670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조항 구조화</a:t>
            </a:r>
          </a:p>
        </p:txBody>
      </p:sp>
      <p:sp>
        <p:nvSpPr>
          <p:cNvPr id="13" name="roadmap-sub-1">
            <a:extLst xmlns:a="http://schemas.openxmlformats.org/drawingml/2006/main">
              <a:ext uri="{FF2B5EF4-FFF2-40B4-BE49-F238E27FC236}">
                <a16:creationId xmlns:a16="http://schemas.microsoft.com/office/drawing/2014/main" id="{6A7311D0-F6E1-4FB9-A39D-841B184B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57200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56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Incoterms·상대일 결제</a:t>
            </a:r>
          </a:p>
        </p:txBody>
      </p:sp>
      <p:sp>
        <p:nvSpPr>
          <p:cNvPr id="14" name="roadmap-dot-2">
            <a:extLst xmlns:a="http://schemas.openxmlformats.org/drawingml/2006/main">
              <a:ext uri="{FF2B5EF4-FFF2-40B4-BE49-F238E27FC236}">
                <a16:creationId xmlns:a16="http://schemas.microsoft.com/office/drawing/2014/main" id="{ED243F5D-5A12-4BBA-99D3-883B7927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90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oadmap-phase-2">
            <a:extLst xmlns:a="http://schemas.openxmlformats.org/drawingml/2006/main">
              <a:ext uri="{FF2B5EF4-FFF2-40B4-BE49-F238E27FC236}">
                <a16:creationId xmlns:a16="http://schemas.microsoft.com/office/drawing/2014/main" id="{0AE82C27-6C0F-46A3-AD52-54B961CC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050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" name="roadmap-title-2">
            <a:extLst xmlns:a="http://schemas.openxmlformats.org/drawingml/2006/main">
              <a:ext uri="{FF2B5EF4-FFF2-40B4-BE49-F238E27FC236}">
                <a16:creationId xmlns:a16="http://schemas.microsoft.com/office/drawing/2014/main" id="{CFA823B1-02EA-4EAD-96A7-9EE8CC37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7670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시나리오 전파</a:t>
            </a:r>
          </a:p>
        </p:txBody>
      </p:sp>
      <p:sp>
        <p:nvSpPr>
          <p:cNvPr id="17" name="roadmap-sub-2">
            <a:extLst xmlns:a="http://schemas.openxmlformats.org/drawingml/2006/main">
              <a:ext uri="{FF2B5EF4-FFF2-40B4-BE49-F238E27FC236}">
                <a16:creationId xmlns:a16="http://schemas.microsoft.com/office/drawing/2014/main" id="{ACFF9642-19ED-4A96-A916-A56036A6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7200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지연→공백→환노출</a:t>
            </a:r>
          </a:p>
        </p:txBody>
      </p:sp>
      <p:sp>
        <p:nvSpPr>
          <p:cNvPr id="18" name="roadmap-dot-3">
            <a:extLst xmlns:a="http://schemas.openxmlformats.org/drawingml/2006/main">
              <a:ext uri="{FF2B5EF4-FFF2-40B4-BE49-F238E27FC236}">
                <a16:creationId xmlns:a16="http://schemas.microsoft.com/office/drawing/2014/main" id="{4379F3D8-73DA-46A1-AD2A-682ACF79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390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oadmap-phase-3">
            <a:extLst xmlns:a="http://schemas.openxmlformats.org/drawingml/2006/main">
              <a:ext uri="{FF2B5EF4-FFF2-40B4-BE49-F238E27FC236}">
                <a16:creationId xmlns:a16="http://schemas.microsoft.com/office/drawing/2014/main" id="{11607D17-9E56-4825-BEA9-AEB8304E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050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0" name="roadmap-title-3">
            <a:extLst xmlns:a="http://schemas.openxmlformats.org/drawingml/2006/main">
              <a:ext uri="{FF2B5EF4-FFF2-40B4-BE49-F238E27FC236}">
                <a16:creationId xmlns:a16="http://schemas.microsoft.com/office/drawing/2014/main" id="{0DA07158-F4F5-4D19-A91C-3C5716D6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7670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실행 대안</a:t>
            </a:r>
          </a:p>
        </p:txBody>
      </p:sp>
      <p:sp>
        <p:nvSpPr>
          <p:cNvPr id="21" name="roadmap-sub-3">
            <a:extLst xmlns:a="http://schemas.openxmlformats.org/drawingml/2006/main">
              <a:ext uri="{FF2B5EF4-FFF2-40B4-BE49-F238E27FC236}">
                <a16:creationId xmlns:a16="http://schemas.microsoft.com/office/drawing/2014/main" id="{8D110C35-1884-402C-BF30-303CE79D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57200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보험·금융·부분헤지</a:t>
            </a:r>
          </a:p>
        </p:txBody>
      </p:sp>
      <p:sp>
        <p:nvSpPr>
          <p:cNvPr id="22" name="roadmap-gate">
            <a:extLst xmlns:a="http://schemas.openxmlformats.org/drawingml/2006/main">
              <a:ext uri="{FF2B5EF4-FFF2-40B4-BE49-F238E27FC236}">
                <a16:creationId xmlns:a16="http://schemas.microsoft.com/office/drawing/2014/main" id="{F3D16C66-D7EB-4B59-9316-23E20908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372100"/>
            <a:ext cx="52197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8C8C5"/>
            </a:solidFill>
            <a:prstDash val="solid"/>
          </a:ln>
        </p:spPr>
      </p:sp>
      <p:sp>
        <p:nvSpPr>
          <p:cNvPr id="23" name="roadmap-gate-text">
            <a:extLst xmlns:a="http://schemas.openxmlformats.org/drawingml/2006/main">
              <a:ext uri="{FF2B5EF4-FFF2-40B4-BE49-F238E27FC236}">
                <a16:creationId xmlns:a16="http://schemas.microsoft.com/office/drawing/2014/main" id="{4E7E5139-DC42-49EC-A721-74230D39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543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77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C8483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C8483C"/>
                </a:solidFill>
                <a:latin typeface="Malgun Gothic"/>
                <a:ea typeface="Malgun Gothic"/>
                <a:cs typeface="Malgun Gothic"/>
              </a:rPr>
              <a:t>현재 기능과 목표 기능을 분리해 구현 순서와 검증 기준을 명확히 합니다.</a:t>
            </a:r>
          </a:p>
        </p:txBody>
      </p:sp>
    </p:spTree>
    <p:extLst>
      <p:ext uri="{BB962C8B-B14F-4D97-AF65-F5344CB8AC3E}">
        <p14:creationId xmlns:p14="http://schemas.microsoft.com/office/powerpoint/2010/main" val="11276422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6AA70AD1-1579-44A7-BF88-9868C5B5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19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8499C987-27F9-440E-BC62-1D865815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TRADEFLOW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805E96E8-3B77-4957-948B-5E8A00A2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9144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환리스크 도구를 넘어</a:t>
            </a:r>
          </a:p>
          <a:p xmlns:a="http://schemas.openxmlformats.org/drawingml/2006/main">
            <a:pPr algn="l">
              <a:buNone/>
              <a:defRPr sz="4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Trade Deal Decision Twin으로</a:t>
            </a:r>
          </a:p>
        </p:txBody>
      </p:sp>
      <p:sp>
        <p:nvSpPr>
          <p:cNvPr id="4" name="close-copy">
            <a:extLst xmlns:a="http://schemas.openxmlformats.org/drawingml/2006/main">
              <a:ext uri="{FF2B5EF4-FFF2-40B4-BE49-F238E27FC236}">
                <a16:creationId xmlns:a16="http://schemas.microsoft.com/office/drawing/2014/main" id="{52003D33-9AD5-482D-80B7-44CE5172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52850"/>
            <a:ext cx="752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계약조건을 현금흐름과 위험으로 바꾸고,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변화를 실행 가능한 금융조치로 연결합니다.</a:t>
            </a:r>
          </a:p>
        </p:txBody>
      </p:sp>
      <p:sp>
        <p:nvSpPr>
          <p:cNvPr id="5" name="close-tagline">
            <a:extLst xmlns:a="http://schemas.openxmlformats.org/drawingml/2006/main">
              <a:ext uri="{FF2B5EF4-FFF2-40B4-BE49-F238E27FC236}">
                <a16:creationId xmlns:a16="http://schemas.microsoft.com/office/drawing/2014/main" id="{D6373596-E2AA-4700-928F-4EFD2EE5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TradeFlow는 Clause-to-Cash-to-Action을 보여줍니다.</a:t>
            </a:r>
          </a:p>
        </p:txBody>
      </p:sp>
      <p:sp>
        <p:nvSpPr>
          <p:cNvPr id="6" name="close-page">
            <a:extLst xmlns:a="http://schemas.openxmlformats.org/drawingml/2006/main">
              <a:ext uri="{FF2B5EF4-FFF2-40B4-BE49-F238E27FC236}">
                <a16:creationId xmlns:a16="http://schemas.microsoft.com/office/drawing/2014/main" id="{E3829562-263E-46F0-91DB-9F5A9B25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681785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2026-08-02T18:12:40.0940000Z</dcterms:created>
  <dcterms:modified xsi:type="dcterms:W3CDTF">2026-08-02T18:12:40.0940000Z</dcterms:modified>
</coreProperties>
</file>