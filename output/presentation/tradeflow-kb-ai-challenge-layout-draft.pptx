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bc7d48ec9745d2" /><Relationship Type="http://schemas.openxmlformats.org/officeDocument/2006/relationships/extended-properties" Target="/docProps/app.xml" Id="R09aa3643daee4bfe" /><Relationship Type="http://schemas.openxmlformats.org/officeDocument/2006/relationships/officeDocument" Target="/ppt/presentation.xml" Id="R9e1c1643c1a3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5861b41f6a460d"/>
  </p:sldMasterIdLst>
  <p:notesMasterIdLst>
    <p:notesMasterId xmlns:r="http://schemas.openxmlformats.org/officeDocument/2006/relationships" r:id="Rd70c89a81d824a55"/>
  </p:notesMasterIdLst>
  <p:sldIdLst>
    <p:sldId xmlns:r="http://schemas.openxmlformats.org/officeDocument/2006/relationships" id="256" r:id="R069b7683fda949cc"/>
    <p:sldId xmlns:r="http://schemas.openxmlformats.org/officeDocument/2006/relationships" id="257" r:id="Rb2ac600753314060"/>
    <p:sldId xmlns:r="http://schemas.openxmlformats.org/officeDocument/2006/relationships" id="258" r:id="R1109fe14e976425e"/>
    <p:sldId xmlns:r="http://schemas.openxmlformats.org/officeDocument/2006/relationships" id="259" r:id="Rc8a8fe0f77ed4c27"/>
    <p:sldId xmlns:r="http://schemas.openxmlformats.org/officeDocument/2006/relationships" id="260" r:id="R88b48fdc059a4c9f"/>
    <p:sldId xmlns:r="http://schemas.openxmlformats.org/officeDocument/2006/relationships" id="261" r:id="Rf32e32fe840145b4"/>
    <p:sldId xmlns:r="http://schemas.openxmlformats.org/officeDocument/2006/relationships" id="262" r:id="R471310a00c9340e2"/>
    <p:sldId xmlns:r="http://schemas.openxmlformats.org/officeDocument/2006/relationships" id="263" r:id="R60ff4af45083467d"/>
    <p:sldId xmlns:r="http://schemas.openxmlformats.org/officeDocument/2006/relationships" id="264" r:id="Rf68e15d50c8b49a9"/>
    <p:sldId xmlns:r="http://schemas.openxmlformats.org/officeDocument/2006/relationships" id="265" r:id="R78dcc55363124269"/>
    <p:sldId xmlns:r="http://schemas.openxmlformats.org/officeDocument/2006/relationships" id="266" r:id="R34e3a6f0312f4fa1"/>
    <p:sldId xmlns:r="http://schemas.openxmlformats.org/officeDocument/2006/relationships" id="267" r:id="Re818e99ecb264b81"/>
    <p:sldId xmlns:r="http://schemas.openxmlformats.org/officeDocument/2006/relationships" id="268" r:id="R05f27c0ea115450e"/>
    <p:sldId xmlns:r="http://schemas.openxmlformats.org/officeDocument/2006/relationships" id="269" r:id="R96bd7ab725824470"/>
    <p:sldId xmlns:r="http://schemas.openxmlformats.org/officeDocument/2006/relationships" id="270" r:id="R39edbc9c9d88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8345a3ef049d5" /><Relationship Type="http://schemas.openxmlformats.org/officeDocument/2006/relationships/slideMaster" Target="/ppt/slideMasters/slideMaster1.xml" Id="R425861b41f6a460d" /><Relationship Type="http://schemas.openxmlformats.org/officeDocument/2006/relationships/notesMaster" Target="/ppt/notesMasters/notesMaster1.xml" Id="Rd70c89a81d824a55" /><Relationship Type="http://schemas.openxmlformats.org/officeDocument/2006/relationships/presProps" Target="/ppt/presProps.xml" Id="Rf2e49da25c2448c6" /><Relationship Type="http://schemas.openxmlformats.org/officeDocument/2006/relationships/tableStyles" Target="/ppt/tableStyles.xml" Id="R617503a19c224eab" /><Relationship Type="http://schemas.openxmlformats.org/officeDocument/2006/relationships/slide" Target="/ppt/slides/slide1.xml" Id="R069b7683fda949cc" /><Relationship Type="http://schemas.openxmlformats.org/officeDocument/2006/relationships/slide" Target="/ppt/slides/slide2.xml" Id="Rb2ac600753314060" /><Relationship Type="http://schemas.openxmlformats.org/officeDocument/2006/relationships/slide" Target="/ppt/slides/slide3.xml" Id="R1109fe14e976425e" /><Relationship Type="http://schemas.openxmlformats.org/officeDocument/2006/relationships/slide" Target="/ppt/slides/slide4.xml" Id="Rc8a8fe0f77ed4c27" /><Relationship Type="http://schemas.openxmlformats.org/officeDocument/2006/relationships/slide" Target="/ppt/slides/slide5.xml" Id="R88b48fdc059a4c9f" /><Relationship Type="http://schemas.openxmlformats.org/officeDocument/2006/relationships/slide" Target="/ppt/slides/slide6.xml" Id="Rf32e32fe840145b4" /><Relationship Type="http://schemas.openxmlformats.org/officeDocument/2006/relationships/slide" Target="/ppt/slides/slide7.xml" Id="R471310a00c9340e2" /><Relationship Type="http://schemas.openxmlformats.org/officeDocument/2006/relationships/slide" Target="/ppt/slides/slide8.xml" Id="R60ff4af45083467d" /><Relationship Type="http://schemas.openxmlformats.org/officeDocument/2006/relationships/slide" Target="/ppt/slides/slide9.xml" Id="Rf68e15d50c8b49a9" /><Relationship Type="http://schemas.openxmlformats.org/officeDocument/2006/relationships/slide" Target="/ppt/slides/slide10.xml" Id="R78dcc55363124269" /><Relationship Type="http://schemas.openxmlformats.org/officeDocument/2006/relationships/slide" Target="/ppt/slides/slide11.xml" Id="R34e3a6f0312f4fa1" /><Relationship Type="http://schemas.openxmlformats.org/officeDocument/2006/relationships/slide" Target="/ppt/slides/slide12.xml" Id="Re818e99ecb264b81" /><Relationship Type="http://schemas.openxmlformats.org/officeDocument/2006/relationships/slide" Target="/ppt/slides/slide13.xml" Id="R05f27c0ea115450e" /><Relationship Type="http://schemas.openxmlformats.org/officeDocument/2006/relationships/slide" Target="/ppt/slides/slide14.xml" Id="R96bd7ab725824470" /><Relationship Type="http://schemas.openxmlformats.org/officeDocument/2006/relationships/slide" Target="/ppt/slides/slide15.xml" Id="R39edbc9c9d88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8a4420fac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e172bb1514447" /><Relationship Type="http://schemas.openxmlformats.org/officeDocument/2006/relationships/notesMaster" Target="/ppt/notesMasters/notesMaster1.xml" Id="Rec43b1b4bbeb41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2fc5d3b18495e" /><Relationship Type="http://schemas.openxmlformats.org/officeDocument/2006/relationships/notesMaster" Target="/ppt/notesMasters/notesMaster1.xml" Id="R4a997d760b9c4c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a468900684ee4" /><Relationship Type="http://schemas.openxmlformats.org/officeDocument/2006/relationships/notesMaster" Target="/ppt/notesMasters/notesMaster1.xml" Id="R920447aaf324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d56011e824dca" /><Relationship Type="http://schemas.openxmlformats.org/officeDocument/2006/relationships/notesMaster" Target="/ppt/notesMasters/notesMaster1.xml" Id="R2f394b8eb46e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2dc7159654c1b" /><Relationship Type="http://schemas.openxmlformats.org/officeDocument/2006/relationships/notesMaster" Target="/ppt/notesMasters/notesMaster1.xml" Id="Rf7a23e5198b8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be6bbba2764893" /><Relationship Type="http://schemas.openxmlformats.org/officeDocument/2006/relationships/notesMaster" Target="/ppt/notesMasters/notesMaster1.xml" Id="Rc334fd3b031941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4cb1b7b5ea46cd" /><Relationship Type="http://schemas.openxmlformats.org/officeDocument/2006/relationships/notesMaster" Target="/ppt/notesMasters/notesMaster1.xml" Id="R2bba99e242e24b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d7576f30314724" /><Relationship Type="http://schemas.openxmlformats.org/officeDocument/2006/relationships/notesMaster" Target="/ppt/notesMasters/notesMaster1.xml" Id="R86c784b67c6b4c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f2b2b01264388" /><Relationship Type="http://schemas.openxmlformats.org/officeDocument/2006/relationships/notesMaster" Target="/ppt/notesMasters/notesMaster1.xml" Id="R81b25c7d0caa45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7c93e998934fb6" /><Relationship Type="http://schemas.openxmlformats.org/officeDocument/2006/relationships/notesMaster" Target="/ppt/notesMasters/notesMaster1.xml" Id="Rbf826df48fc647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34f2587a6c4645" /><Relationship Type="http://schemas.openxmlformats.org/officeDocument/2006/relationships/notesMaster" Target="/ppt/notesMasters/notesMaster1.xml" Id="R4b294930071143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b77bbbe39e4730" /><Relationship Type="http://schemas.openxmlformats.org/officeDocument/2006/relationships/notesMaster" Target="/ppt/notesMasters/notesMaster1.xml" Id="R70482091d5d448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a8ba2ec292496e" /><Relationship Type="http://schemas.openxmlformats.org/officeDocument/2006/relationships/notesMaster" Target="/ppt/notesMasters/notesMaster1.xml" Id="Rae0be13c6bde40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656ee2047d428a" /><Relationship Type="http://schemas.openxmlformats.org/officeDocument/2006/relationships/notesMaster" Target="/ppt/notesMasters/notesMaster1.xml" Id="R8cf4f7a2ee1148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d20f83f677432e" /><Relationship Type="http://schemas.openxmlformats.org/officeDocument/2006/relationships/notesMaster" Target="/ppt/notesMasters/notesMaster1.xml" Id="R1185d330d286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docs/product/kb-ai-challenge-submission-plan.md §2, §6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scenario: docs/product/competition-proposal.md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§2.2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docs/product/decision-delta-differentiation.md §2-§4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Text substitute for demo screen</a:t>
            </a:r>
          </a:p>
          <a:p xmlns:a="http://schemas.openxmlformats.org/drawingml/2006/main">
            <a:r>
              <a:t>- Internal: docs/product/decision-delta-differentiation.md §3.3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§6.6</a:t>
            </a:r>
          </a:p>
          <a:p xmlns:a="http://schemas.openxmlformats.org/drawingml/2006/main">
            <a:r>
              <a:t>- Internal: docs/adr/0028-bank-neutral-consultation-handoff.md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calculation: docs/product/competition-proposal.md §6.2,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§6.8,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results: docs/product/implementation-progress.md §3</a:t>
            </a:r>
          </a:p>
          <a:p xmlns:a="http://schemas.openxmlformats.org/drawingml/2006/main">
            <a:r>
              <a:t>- Internal: docs/product/user-task-benchmark.md 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§11</a:t>
            </a:r>
          </a:p>
          <a:p xmlns:a="http://schemas.openxmlformats.org/drawingml/2006/main">
            <a:r>
              <a:t>- Internal: docs/adr/0019-rulepack-promotion-and-review-policy.md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docs/adr/0028-bank-neutral-consultation-handoff.md</a:t>
            </a:r>
          </a:p>
          <a:p xmlns:a="http://schemas.openxmlformats.org/drawingml/2006/main">
            <a:r>
              <a:t>- Internal: docs/product/competition-proposal.md §11.3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docs/product/competition-proposal.md §10-§14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synthesis: docs/product/kb-ai-challenge-submission-plan.md §6.3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921e4f4ff48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9547003f044339" /><Relationship Type="http://schemas.openxmlformats.org/officeDocument/2006/relationships/slideLayout" Target="/ppt/slideLayouts/slideLayout1.xml" Id="R78b0255e48b14b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0255e48b14b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431624bd4592" /><Relationship Type="http://schemas.openxmlformats.org/officeDocument/2006/relationships/notesSlide" Target="/ppt/notesSlides/notesSlide1.xml" Id="R64ba2207739b4e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955617514559" /><Relationship Type="http://schemas.openxmlformats.org/officeDocument/2006/relationships/notesSlide" Target="/ppt/notesSlides/notesSlide2.xml" Id="R021b55c9f4e3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a51a0832c4cf2" /><Relationship Type="http://schemas.openxmlformats.org/officeDocument/2006/relationships/notesSlide" Target="/ppt/notesSlides/notesSlide3.xml" Id="R69b4ccdc0ee344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75685da5d4994" /><Relationship Type="http://schemas.openxmlformats.org/officeDocument/2006/relationships/notesSlide" Target="/ppt/notesSlides/notesSlide4.xml" Id="Rb560e4c9a8e649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b314b0bc24556" /><Relationship Type="http://schemas.openxmlformats.org/officeDocument/2006/relationships/notesSlide" Target="/ppt/notesSlides/notesSlide5.xml" Id="R2ca7be75d7d340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6afce94714319" /><Relationship Type="http://schemas.openxmlformats.org/officeDocument/2006/relationships/notesSlide" Target="/ppt/notesSlides/notesSlide6.xml" Id="R1201860b05af4d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bcd5790f4973" /><Relationship Type="http://schemas.openxmlformats.org/officeDocument/2006/relationships/notesSlide" Target="/ppt/notesSlides/notesSlide7.xml" Id="Red86270f78e1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bfd4f5ed4004" /><Relationship Type="http://schemas.openxmlformats.org/officeDocument/2006/relationships/notesSlide" Target="/ppt/notesSlides/notesSlide8.xml" Id="Rc022d56bf80342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2d3fddd3e463b" /><Relationship Type="http://schemas.openxmlformats.org/officeDocument/2006/relationships/chart" Target="/ppt/slides/charts/chart1.xml" Id="Re596c0d98c7348c5" /><Relationship Type="http://schemas.openxmlformats.org/officeDocument/2006/relationships/notesSlide" Target="/ppt/notesSlides/notesSlide9.xml" Id="R59c70a80ab2740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b53d5010b40c7" /><Relationship Type="http://schemas.openxmlformats.org/officeDocument/2006/relationships/notesSlide" Target="/ppt/notesSlides/notesSlide10.xml" Id="Re332a42a65cd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df0f1ea21464d" /><Relationship Type="http://schemas.openxmlformats.org/officeDocument/2006/relationships/notesSlide" Target="/ppt/notesSlides/notesSlide11.xml" Id="R1701aa97686b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3d62a4a754836" /><Relationship Type="http://schemas.openxmlformats.org/officeDocument/2006/relationships/notesSlide" Target="/ppt/notesSlides/notesSlide12.xml" Id="Rbd12a066cc6b40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3d4e951854a89" /><Relationship Type="http://schemas.openxmlformats.org/officeDocument/2006/relationships/notesSlide" Target="/ppt/notesSlides/notesSlide13.xml" Id="R87ae851ab2b746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98e998b4f4d58" /><Relationship Type="http://schemas.openxmlformats.org/officeDocument/2006/relationships/notesSlide" Target="/ppt/notesSlides/notesSlide14.xml" Id="Rb4f3bfc7bf354c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c1bd13bd4295" /><Relationship Type="http://schemas.openxmlformats.org/officeDocument/2006/relationships/notesSlide" Target="/ppt/notesSlides/notesSlide15.xml" Id="R805ca153d050494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예상 외화잔액</c:v>
          </c:tx>
          <c:spPr>
            <a:ln xmlns:a="http://schemas.openxmlformats.org/drawingml/2006/main" w="38100">
              <a:solidFill>
                <a:srgbClr val="C8483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8/24</c:v>
              </c:pt>
              <c:pt idx="1">
                <c:v>8/25</c:v>
              </c:pt>
              <c:pt idx="2">
                <c:v>9/30</c:v>
              </c:pt>
              <c:pt idx="3">
                <c:v>10/24</c:v>
              </c:pt>
            </c:strLit>
          </c:cat>
          <c:val>
            <c:numLit>
              <c:formatCode>$#,##0;-$#,##0</c:formatCode>
              <c:ptCount val="4"/>
              <c:pt idx="0">
                <c:v>0</c:v>
              </c:pt>
              <c:pt idx="1">
                <c:v>-60000</c:v>
              </c:pt>
              <c:pt idx="2">
                <c:v>-60000</c:v>
              </c:pt>
              <c:pt idx="3">
                <c:v>40000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8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E6E6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000"/>
          <c:min val="-8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3"/>
              </a:solidFill>
              <a:prstDash val="solid"/>
            </a:ln>
          </c:spPr>
        </c:majorGridlines>
        <c:numFmt formatCode="$#,##0;-$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6E6E"/>
                </a:solidFill>
              </a:defRPr>
            </a:pPr>
          </a:p>
        </c:txPr>
        <c:crossAx val="48650112"/>
        <c:crossBetween val="between"/>
        <c:majorUnit val="20000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93F6C17-4C27-44B2-A30D-7B76E99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1E02756-BE05-45F8-A2CA-0EA8BCED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 KB AI Challenge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B825AE-78D9-414D-BC19-19E1A12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F43F0F-F133-4ACB-91A6-C0F551C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결과를 바꾸는 수출입금융 AI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7479EC09-6CD5-4FAC-8815-548035B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환위험과 결제일 자금 공백을 함께 분석하고,</a:t>
            </a:r>
          </a:p>
          <a:p xmlns:a="http://schemas.openxmlformats.org/drawingml/2006/main">
            <a:pPr algn="l">
              <a:def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결정 변화부터 금융상담 준비까지 연결합니다.</a:t>
            </a:r>
          </a:p>
        </p:txBody>
      </p:sp>
      <p:sp>
        <p:nvSpPr>
          <p:cNvPr id="6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5749499B-C124-42D5-8B11-CBFD8D6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TradeFlow는 무엇이 답을 바꾸는지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903495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">
            <a:extLst xmlns:a="http://schemas.openxmlformats.org/drawingml/2006/main">
              <a:ext uri="{FF2B5EF4-FFF2-40B4-BE49-F238E27FC236}">
                <a16:creationId xmlns:a16="http://schemas.microsoft.com/office/drawing/2014/main" id="{CF1F9670-EB57-42E9-B646-18D9EE4A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5956AAA-817C-43E1-9DAE-B81A82C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계약은 흑자인데, 결제일에는 USD 60,000이 부족합니다</a:t>
            </a:r>
          </a:p>
        </p:txBody>
      </p:sp>
      <p:cxnSp>
        <p:nvCxnSpPr>
          <p:cNvPr id="20" name="header-rule-2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4175713-33B1-4784-99DC-92BED99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22" name="timeline-main"/>
          <p:cNvCxnSpPr/>
          <p:nvPr/>
        </p:nvCxnSpPr>
        <p:spPr>
          <a:xfrm xmlns:a="http://schemas.openxmlformats.org/drawingml/2006/main">
            <a:off x="1066800" y="35052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cxnSp>
        <p:nvCxnSpPr>
          <p:cNvPr id="23" name="gap-span"/>
          <p:cNvCxnSpPr/>
          <p:nvPr/>
        </p:nvCxnSpPr>
        <p:spPr>
          <a:xfrm xmlns:a="http://schemas.openxmlformats.org/drawingml/2006/main">
            <a:off x="2390775" y="4362450"/>
            <a:ext cx="6153150" cy="0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C8483C"/>
            </a:solidFill>
            <a:prstDash val="solid"/>
          </a:ln>
        </p:spPr>
      </p:cxnSp>
      <p:sp>
        <p:nvSpPr>
          <p:cNvPr id="7" name="timeline-import">
            <a:extLst xmlns:a="http://schemas.openxmlformats.org/drawingml/2006/main">
              <a:ext uri="{FF2B5EF4-FFF2-40B4-BE49-F238E27FC236}">
                <a16:creationId xmlns:a16="http://schemas.microsoft.com/office/drawing/2014/main" id="{4BFFB51B-9722-4BB2-A679-2C787B0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export">
            <a:extLst xmlns:a="http://schemas.openxmlformats.org/drawingml/2006/main">
              <a:ext uri="{FF2B5EF4-FFF2-40B4-BE49-F238E27FC236}">
                <a16:creationId xmlns:a16="http://schemas.microsoft.com/office/drawing/2014/main" id="{B3B554DC-6E50-4001-B95C-42818478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port-date">
            <a:extLst xmlns:a="http://schemas.openxmlformats.org/drawingml/2006/main">
              <a:ext uri="{FF2B5EF4-FFF2-40B4-BE49-F238E27FC236}">
                <a16:creationId xmlns:a16="http://schemas.microsoft.com/office/drawing/2014/main" id="{82550744-C30F-422B-846E-2112C668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2026.08.25</a:t>
            </a:r>
          </a:p>
        </p:txBody>
      </p:sp>
      <p:sp>
        <p:nvSpPr>
          <p:cNvPr id="10" name="import-amount">
            <a:extLst xmlns:a="http://schemas.openxmlformats.org/drawingml/2006/main">
              <a:ext uri="{FF2B5EF4-FFF2-40B4-BE49-F238E27FC236}">
                <a16:creationId xmlns:a16="http://schemas.microsoft.com/office/drawing/2014/main" id="{D70DA8CD-1E89-496E-804F-EF1B159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- USD 60,000</a:t>
            </a:r>
          </a:p>
        </p:txBody>
      </p:sp>
      <p:sp>
        <p:nvSpPr>
          <p:cNvPr id="11" name="import-label">
            <a:extLst xmlns:a="http://schemas.openxmlformats.org/drawingml/2006/main">
              <a:ext uri="{FF2B5EF4-FFF2-40B4-BE49-F238E27FC236}">
                <a16:creationId xmlns:a16="http://schemas.microsoft.com/office/drawing/2014/main" id="{379FEAC9-A9FE-4369-B591-2E5776E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수입대금 지급</a:t>
            </a:r>
          </a:p>
        </p:txBody>
      </p:sp>
      <p:sp>
        <p:nvSpPr>
          <p:cNvPr id="12" name="export-date">
            <a:extLst xmlns:a="http://schemas.openxmlformats.org/drawingml/2006/main">
              <a:ext uri="{FF2B5EF4-FFF2-40B4-BE49-F238E27FC236}">
                <a16:creationId xmlns:a16="http://schemas.microsoft.com/office/drawing/2014/main" id="{96150EC9-9B8C-4EA1-8E79-5B95E17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2026.10.24</a:t>
            </a:r>
          </a:p>
        </p:txBody>
      </p:sp>
      <p:sp>
        <p:nvSpPr>
          <p:cNvPr id="13" name="export-amount">
            <a:extLst xmlns:a="http://schemas.openxmlformats.org/drawingml/2006/main">
              <a:ext uri="{FF2B5EF4-FFF2-40B4-BE49-F238E27FC236}">
                <a16:creationId xmlns:a16="http://schemas.microsoft.com/office/drawing/2014/main" id="{C025BD12-D4E1-4490-B012-BB3147B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rPr>
              <a:t>+ USD 100,000</a:t>
            </a:r>
          </a:p>
        </p:txBody>
      </p:sp>
      <p:sp>
        <p:nvSpPr>
          <p:cNvPr id="14" name="export-label">
            <a:extLst xmlns:a="http://schemas.openxmlformats.org/drawingml/2006/main">
              <a:ext uri="{FF2B5EF4-FFF2-40B4-BE49-F238E27FC236}">
                <a16:creationId xmlns:a16="http://schemas.microsoft.com/office/drawing/2014/main" id="{9B1BADAC-A348-45B9-B711-80C1740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수출대금 수취</a:t>
            </a:r>
          </a:p>
        </p:txBody>
      </p:sp>
      <p:sp>
        <p:nvSpPr>
          <p:cNvPr id="15" name="gap-label">
            <a:extLst xmlns:a="http://schemas.openxmlformats.org/drawingml/2006/main">
              <a:ext uri="{FF2B5EF4-FFF2-40B4-BE49-F238E27FC236}">
                <a16:creationId xmlns:a16="http://schemas.microsoft.com/office/drawing/2014/main" id="{0AE851C0-2B74-4C6D-840E-674435F3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9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60일 동안 외화 잔액이 마이너스</a:t>
            </a:r>
          </a:p>
        </p:txBody>
      </p:sp>
      <p:sp>
        <p:nvSpPr>
          <p:cNvPr id="16" name="gap-callout">
            <a:extLst xmlns:a="http://schemas.openxmlformats.org/drawingml/2006/main">
              <a:ext uri="{FF2B5EF4-FFF2-40B4-BE49-F238E27FC236}">
                <a16:creationId xmlns:a16="http://schemas.microsoft.com/office/drawing/2014/main" id="{A67CE4B2-682B-45E5-B085-192B9D3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19700"/>
            <a:ext cx="4400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7" name="gap-callout-text">
            <a:extLst xmlns:a="http://schemas.openxmlformats.org/drawingml/2006/main">
              <a:ext uri="{FF2B5EF4-FFF2-40B4-BE49-F238E27FC236}">
                <a16:creationId xmlns:a16="http://schemas.microsoft.com/office/drawing/2014/main" id="{4111278B-2EFA-4BC9-8D5A-D662F8F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48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순유입 +USD 40,000  ≠  결제일 유동성</a:t>
            </a:r>
          </a:p>
        </p:txBody>
      </p:sp>
    </p:spTree>
    <p:extLst>
      <p:ext uri="{BB962C8B-B14F-4D97-AF65-F5344CB8AC3E}">
        <p14:creationId xmlns:p14="http://schemas.microsoft.com/office/powerpoint/2010/main" val="126895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F3136A45-3911-494C-969E-4120E193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EE9732A-4828-4B23-A7D9-0031434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환위험만 보면 자금 문제의 절반을 놓칩니다</a:t>
            </a:r>
          </a:p>
        </p:txBody>
      </p:sp>
      <p:cxnSp>
        <p:nvCxnSpPr>
          <p:cNvPr id="16" name="header-rule-3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D5E6CCA-4019-41CD-A706-E6404D0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18" name="compare-divider"/>
          <p:cNvCxnSpPr/>
          <p:nvPr/>
        </p:nvCxnSpPr>
        <p:spPr>
          <a:xfrm xmlns:a="http://schemas.openxmlformats.org/drawingml/2006/main">
            <a:off x="6096000" y="17335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6" name="economic-label">
            <a:extLst xmlns:a="http://schemas.openxmlformats.org/drawingml/2006/main">
              <a:ext uri="{FF2B5EF4-FFF2-40B4-BE49-F238E27FC236}">
                <a16:creationId xmlns:a16="http://schemas.microsoft.com/office/drawing/2014/main" id="{6C6F46B4-D5F3-4158-9C36-B7B3F6B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경제적 자연헤지</a:t>
            </a:r>
          </a:p>
        </p:txBody>
      </p:sp>
      <p:sp>
        <p:nvSpPr>
          <p:cNvPr id="7" name="economic-value">
            <a:extLst xmlns:a="http://schemas.openxmlformats.org/drawingml/2006/main">
              <a:ext uri="{FF2B5EF4-FFF2-40B4-BE49-F238E27FC236}">
                <a16:creationId xmlns:a16="http://schemas.microsoft.com/office/drawing/2014/main" id="{21240BFE-43E8-4241-8C68-7B089D7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60,000</a:t>
            </a:r>
          </a:p>
        </p:txBody>
      </p:sp>
      <p:sp>
        <p:nvSpPr>
          <p:cNvPr id="8" name="economic-copy">
            <a:extLst xmlns:a="http://schemas.openxmlformats.org/drawingml/2006/main">
              <a:ext uri="{FF2B5EF4-FFF2-40B4-BE49-F238E27FC236}">
                <a16:creationId xmlns:a16="http://schemas.microsoft.com/office/drawing/2014/main" id="{934D1ABC-5554-497D-8A3F-503335E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전체 수출·수입 금액에서</a:t>
            </a:r>
          </a:p>
          <a:p xmlns:a="http://schemas.openxmlformats.org/drawingml/2006/main">
            <a:pPr algn="l"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서로 상계 가능한 규모</a:t>
            </a:r>
          </a:p>
        </p:txBody>
      </p:sp>
      <p:sp>
        <p:nvSpPr>
          <p:cNvPr id="9" name="maturity-label">
            <a:extLst xmlns:a="http://schemas.openxmlformats.org/drawingml/2006/main">
              <a:ext uri="{FF2B5EF4-FFF2-40B4-BE49-F238E27FC236}">
                <a16:creationId xmlns:a16="http://schemas.microsoft.com/office/drawing/2014/main" id="{68E81B3E-5964-4127-8BEB-B7C1318C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결제시점 상계</a:t>
            </a:r>
          </a:p>
        </p:txBody>
      </p:sp>
      <p:sp>
        <p:nvSpPr>
          <p:cNvPr id="10" name="maturity-value">
            <a:extLst xmlns:a="http://schemas.openxmlformats.org/drawingml/2006/main">
              <a:ext uri="{FF2B5EF4-FFF2-40B4-BE49-F238E27FC236}">
                <a16:creationId xmlns:a16="http://schemas.microsoft.com/office/drawing/2014/main" id="{823DAD0C-337C-4C4A-B50F-D5A91E2B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USD 0</a:t>
            </a:r>
          </a:p>
        </p:txBody>
      </p:sp>
      <p:sp>
        <p:nvSpPr>
          <p:cNvPr id="11" name="maturity-copy">
            <a:extLst xmlns:a="http://schemas.openxmlformats.org/drawingml/2006/main">
              <a:ext uri="{FF2B5EF4-FFF2-40B4-BE49-F238E27FC236}">
                <a16:creationId xmlns:a16="http://schemas.microsoft.com/office/drawing/2014/main" id="{9E3E6AE1-AB56-41A5-B8D2-B5C2177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수입 지급일에 실제로</a:t>
            </a:r>
          </a:p>
          <a:p xmlns:a="http://schemas.openxmlformats.org/drawingml/2006/main">
            <a:pPr algn="l">
              <a:def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사용할 수 있는 수출대금</a:t>
            </a:r>
          </a:p>
        </p:txBody>
      </p:sp>
      <p:sp>
        <p:nvSpPr>
          <p:cNvPr id="12" name="insight-band">
            <a:extLst xmlns:a="http://schemas.openxmlformats.org/drawingml/2006/main">
              <a:ext uri="{FF2B5EF4-FFF2-40B4-BE49-F238E27FC236}">
                <a16:creationId xmlns:a16="http://schemas.microsoft.com/office/drawing/2014/main" id="{6379AA29-B23A-440B-8257-3D5825D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267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sight-text">
            <a:extLst xmlns:a="http://schemas.openxmlformats.org/drawingml/2006/main">
              <a:ext uri="{FF2B5EF4-FFF2-40B4-BE49-F238E27FC236}">
                <a16:creationId xmlns:a16="http://schemas.microsoft.com/office/drawing/2014/main" id="{21ABBD28-6925-4399-A93B-E327B2A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69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환노출 감소와 결제일 자금 확보는 서로 다른 의사결정입니다.</a:t>
            </a:r>
          </a:p>
        </p:txBody>
      </p:sp>
    </p:spTree>
    <p:extLst>
      <p:ext uri="{BB962C8B-B14F-4D97-AF65-F5344CB8AC3E}">
        <p14:creationId xmlns:p14="http://schemas.microsoft.com/office/powerpoint/2010/main" val="1620837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4">
            <a:extLst xmlns:a="http://schemas.openxmlformats.org/drawingml/2006/main">
              <a:ext uri="{FF2B5EF4-FFF2-40B4-BE49-F238E27FC236}">
                <a16:creationId xmlns:a16="http://schemas.microsoft.com/office/drawing/2014/main" id="{83AB52E1-470E-46A3-B10F-720B58D5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D84FD91-5065-4513-AC9E-EBCCEBFC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도구는 분석과 상담을 분리합니다</a:t>
            </a:r>
          </a:p>
        </p:txBody>
      </p:sp>
      <p:cxnSp>
        <p:nvCxnSpPr>
          <p:cNvPr id="29" name="header-rule-4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B8401FC-A521-4DB0-A664-C4DADB4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31" name="flow-line-1"/>
          <p:cNvCxnSpPr/>
          <p:nvPr/>
        </p:nvCxnSpPr>
        <p:spPr>
          <a:xfrm xmlns:a="http://schemas.openxmlformats.org/drawingml/2006/main">
            <a:off x="1428750" y="32480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32" name="flow-line-2"/>
          <p:cNvCxnSpPr/>
          <p:nvPr/>
        </p:nvCxnSpPr>
        <p:spPr>
          <a:xfrm xmlns:a="http://schemas.openxmlformats.org/drawingml/2006/main">
            <a:off x="4191000" y="32480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33" name="flow-line-3"/>
          <p:cNvCxnSpPr/>
          <p:nvPr/>
        </p:nvCxnSpPr>
        <p:spPr>
          <a:xfrm xmlns:a="http://schemas.openxmlformats.org/drawingml/2006/main">
            <a:off x="6572250" y="32480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34" name="flow-line-4"/>
          <p:cNvCxnSpPr/>
          <p:nvPr/>
        </p:nvCxnSpPr>
        <p:spPr>
          <a:xfrm xmlns:a="http://schemas.openxmlformats.org/drawingml/2006/main">
            <a:off x="8858250" y="3248025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9" name="flow-dot-0">
            <a:extLst xmlns:a="http://schemas.openxmlformats.org/drawingml/2006/main">
              <a:ext uri="{FF2B5EF4-FFF2-40B4-BE49-F238E27FC236}">
                <a16:creationId xmlns:a16="http://schemas.microsoft.com/office/drawing/2014/main" id="{52B802F5-10B8-46E6-A1EC-575943C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B5683D7E-5689-4205-A327-E8A2EDC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엑셀</a:t>
            </a:r>
          </a:p>
        </p:txBody>
      </p:sp>
      <p:sp>
        <p:nvSpPr>
          <p:cNvPr id="11" name="flow-sub-0">
            <a:extLst xmlns:a="http://schemas.openxmlformats.org/drawingml/2006/main">
              <a:ext uri="{FF2B5EF4-FFF2-40B4-BE49-F238E27FC236}">
                <a16:creationId xmlns:a16="http://schemas.microsoft.com/office/drawing/2014/main" id="{D0CBAF6A-0503-4444-A5AA-22166A2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거래 합계</a:t>
            </a:r>
          </a:p>
        </p:txBody>
      </p:sp>
      <p:sp>
        <p:nvSpPr>
          <p:cNvPr id="12" name="flow-dot-1">
            <a:extLst xmlns:a="http://schemas.openxmlformats.org/drawingml/2006/main">
              <a:ext uri="{FF2B5EF4-FFF2-40B4-BE49-F238E27FC236}">
                <a16:creationId xmlns:a16="http://schemas.microsoft.com/office/drawing/2014/main" id="{BF8168E0-3FB9-432A-9D17-C939DF7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DD5AC13C-71E2-457A-9EEC-4FD4DD77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환위험 분석</a:t>
            </a:r>
          </a:p>
        </p:txBody>
      </p:sp>
      <p:sp>
        <p:nvSpPr>
          <p:cNvPr id="14" name="flow-sub-1">
            <a:extLst xmlns:a="http://schemas.openxmlformats.org/drawingml/2006/main">
              <a:ext uri="{FF2B5EF4-FFF2-40B4-BE49-F238E27FC236}">
                <a16:creationId xmlns:a16="http://schemas.microsoft.com/office/drawing/2014/main" id="{6AEFDD0B-6351-482D-AFC7-C635CB0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노출·시나리오</a:t>
            </a:r>
          </a:p>
        </p:txBody>
      </p:sp>
      <p:sp>
        <p:nvSpPr>
          <p:cNvPr id="15" name="flow-dot-2">
            <a:extLst xmlns:a="http://schemas.openxmlformats.org/drawingml/2006/main">
              <a:ext uri="{FF2B5EF4-FFF2-40B4-BE49-F238E27FC236}">
                <a16:creationId xmlns:a16="http://schemas.microsoft.com/office/drawing/2014/main" id="{E54E5C6D-CA0F-4213-BBD9-63EF3EB1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50B3AD89-5E20-4282-8442-4D7D79BA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상품 검색</a:t>
            </a:r>
          </a:p>
        </p:txBody>
      </p:sp>
      <p:sp>
        <p:nvSpPr>
          <p:cNvPr id="17" name="flow-sub-2">
            <a:extLst xmlns:a="http://schemas.openxmlformats.org/drawingml/2006/main">
              <a:ext uri="{FF2B5EF4-FFF2-40B4-BE49-F238E27FC236}">
                <a16:creationId xmlns:a16="http://schemas.microsoft.com/office/drawing/2014/main" id="{C839D54B-C3B1-468F-9152-D09C8A8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조건 탐색</a:t>
            </a:r>
          </a:p>
        </p:txBody>
      </p:sp>
      <p:sp>
        <p:nvSpPr>
          <p:cNvPr id="18" name="flow-dot-3">
            <a:extLst xmlns:a="http://schemas.openxmlformats.org/drawingml/2006/main">
              <a:ext uri="{FF2B5EF4-FFF2-40B4-BE49-F238E27FC236}">
                <a16:creationId xmlns:a16="http://schemas.microsoft.com/office/drawing/2014/main" id="{CE1913F1-0FDF-4191-82EC-9C6EED17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6FA35C23-EA8F-4958-B9D9-2A8AC46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자료 재정리</a:t>
            </a:r>
          </a:p>
        </p:txBody>
      </p:sp>
      <p:sp>
        <p:nvSpPr>
          <p:cNvPr id="20" name="flow-sub-3">
            <a:extLst xmlns:a="http://schemas.openxmlformats.org/drawingml/2006/main">
              <a:ext uri="{FF2B5EF4-FFF2-40B4-BE49-F238E27FC236}">
                <a16:creationId xmlns:a16="http://schemas.microsoft.com/office/drawing/2014/main" id="{97976B92-7C03-4005-B831-FE530FB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사실·서류 반복</a:t>
            </a:r>
          </a:p>
        </p:txBody>
      </p:sp>
      <p:sp>
        <p:nvSpPr>
          <p:cNvPr id="21" name="flow-dot-4">
            <a:extLst xmlns:a="http://schemas.openxmlformats.org/drawingml/2006/main">
              <a:ext uri="{FF2B5EF4-FFF2-40B4-BE49-F238E27FC236}">
                <a16:creationId xmlns:a16="http://schemas.microsoft.com/office/drawing/2014/main" id="{CBC3CA1B-38EF-4FDB-854B-F0861B5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95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09FF0C99-4822-4B40-AA01-799A9BE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은행 상담</a:t>
            </a:r>
          </a:p>
        </p:txBody>
      </p:sp>
      <p:sp>
        <p:nvSpPr>
          <p:cNvPr id="23" name="flow-sub-4">
            <a:extLst xmlns:a="http://schemas.openxmlformats.org/drawingml/2006/main">
              <a:ext uri="{FF2B5EF4-FFF2-40B4-BE49-F238E27FC236}">
                <a16:creationId xmlns:a16="http://schemas.microsoft.com/office/drawing/2014/main" id="{33140A37-75B6-4357-A1BB-C824F7F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최종 확인</a:t>
            </a:r>
          </a:p>
        </p:txBody>
      </p:sp>
      <p:sp>
        <p:nvSpPr>
          <p:cNvPr id="24" name="break-marker">
            <a:extLst xmlns:a="http://schemas.openxmlformats.org/drawingml/2006/main">
              <a:ext uri="{FF2B5EF4-FFF2-40B4-BE49-F238E27FC236}">
                <a16:creationId xmlns:a16="http://schemas.microsoft.com/office/drawing/2014/main" id="{68476A98-CD9E-4D43-A7D8-33B744D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76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reak-symbol">
            <a:extLst xmlns:a="http://schemas.openxmlformats.org/drawingml/2006/main">
              <a:ext uri="{FF2B5EF4-FFF2-40B4-BE49-F238E27FC236}">
                <a16:creationId xmlns:a16="http://schemas.microsoft.com/office/drawing/2014/main" id="{121E7550-58E6-4C12-817D-CAED452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14625"/>
            <a:ext cx="628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26" name="break-copy">
            <a:extLst xmlns:a="http://schemas.openxmlformats.org/drawingml/2006/main">
              <a:ext uri="{FF2B5EF4-FFF2-40B4-BE49-F238E27FC236}">
                <a16:creationId xmlns:a16="http://schemas.microsoft.com/office/drawing/2014/main" id="{E40D3085-82A4-4D6B-86AE-F170EB5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어떤 정보가 결과를 바꾸는지, 왜 바뀌었는지 연결되지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94135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5">
            <a:extLst xmlns:a="http://schemas.openxmlformats.org/drawingml/2006/main">
              <a:ext uri="{FF2B5EF4-FFF2-40B4-BE49-F238E27FC236}">
                <a16:creationId xmlns:a16="http://schemas.microsoft.com/office/drawing/2014/main" id="{45C40C94-8E3C-41C2-978F-3AA39AE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SOLUTION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C9699AA-397B-480D-B1CE-0B9B05FE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TradeFlow는 결정의 전 과정을 연결합니다</a:t>
            </a:r>
          </a:p>
        </p:txBody>
      </p:sp>
      <p:cxnSp>
        <p:nvCxnSpPr>
          <p:cNvPr id="29" name="header-rule-5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71613FB-0567-401D-8E43-BFF71DD9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31" name="journey-line"/>
          <p:cNvCxnSpPr/>
          <p:nvPr/>
        </p:nvCxnSpPr>
        <p:spPr>
          <a:xfrm xmlns:a="http://schemas.openxmlformats.org/drawingml/2006/main">
            <a:off x="1200150" y="367665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5"/>
            </a:solidFill>
            <a:prstDash val="solid"/>
          </a:ln>
        </p:spPr>
      </p:cxn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13E976BF-C5E8-4AF4-BC74-5763AB47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index-1">
            <a:extLst xmlns:a="http://schemas.openxmlformats.org/drawingml/2006/main">
              <a:ext uri="{FF2B5EF4-FFF2-40B4-BE49-F238E27FC236}">
                <a16:creationId xmlns:a16="http://schemas.microsoft.com/office/drawing/2014/main" id="{3EEE4449-2F82-4BAE-9F7A-6BB8065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0CFE6D90-ED80-45C5-A404-AF6F772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 입력</a:t>
            </a:r>
          </a:p>
        </p:txBody>
      </p:sp>
      <p:sp>
        <p:nvSpPr>
          <p:cNvPr id="9" name="stage-sub-1">
            <a:extLst xmlns:a="http://schemas.openxmlformats.org/drawingml/2006/main">
              <a:ext uri="{FF2B5EF4-FFF2-40B4-BE49-F238E27FC236}">
                <a16:creationId xmlns:a16="http://schemas.microsoft.com/office/drawing/2014/main" id="{031535F2-8976-44D9-B967-067F0BA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수출·수입 사실</a:t>
            </a:r>
          </a:p>
        </p:txBody>
      </p:sp>
      <p:sp>
        <p:nvSpPr>
          <p:cNvPr id="10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62D77CDA-8AAD-4560-B5F8-CC9F7F6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index-2">
            <a:extLst xmlns:a="http://schemas.openxmlformats.org/drawingml/2006/main">
              <a:ext uri="{FF2B5EF4-FFF2-40B4-BE49-F238E27FC236}">
                <a16:creationId xmlns:a16="http://schemas.microsoft.com/office/drawing/2014/main" id="{2C6CC625-D32C-4553-82E2-0BF0322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FEDE7970-F347-4A03-B162-BA14AB5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공백·노출</a:t>
            </a:r>
          </a:p>
        </p:txBody>
      </p:sp>
      <p:sp>
        <p:nvSpPr>
          <p:cNvPr id="13" name="stage-sub-2">
            <a:extLst xmlns:a="http://schemas.openxmlformats.org/drawingml/2006/main">
              <a:ext uri="{FF2B5EF4-FFF2-40B4-BE49-F238E27FC236}">
                <a16:creationId xmlns:a16="http://schemas.microsoft.com/office/drawing/2014/main" id="{0AE20503-791D-4C6C-A448-2028E62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금액·시점 계산</a:t>
            </a:r>
          </a:p>
        </p:txBody>
      </p:sp>
      <p:sp>
        <p:nvSpPr>
          <p:cNvPr id="14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521803F0-D7FB-4112-B18B-540D56D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index-3">
            <a:extLst xmlns:a="http://schemas.openxmlformats.org/drawingml/2006/main">
              <a:ext uri="{FF2B5EF4-FFF2-40B4-BE49-F238E27FC236}">
                <a16:creationId xmlns:a16="http://schemas.microsoft.com/office/drawing/2014/main" id="{35DDCC1B-BBA3-4471-BE34-3879DE8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F62A5EE8-6C3B-4459-8D04-EFC60660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 질문</a:t>
            </a:r>
          </a:p>
        </p:txBody>
      </p:sp>
      <p:sp>
        <p:nvSpPr>
          <p:cNvPr id="17" name="stage-sub-3">
            <a:extLst xmlns:a="http://schemas.openxmlformats.org/drawingml/2006/main">
              <a:ext uri="{FF2B5EF4-FFF2-40B4-BE49-F238E27FC236}">
                <a16:creationId xmlns:a16="http://schemas.microsoft.com/office/drawing/2014/main" id="{DF0ABAD1-100C-43E4-969C-DEB9DF5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가장 영향 큰 정보</a:t>
            </a:r>
          </a:p>
        </p:txBody>
      </p:sp>
      <p:sp>
        <p:nvSpPr>
          <p:cNvPr id="18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C76CC3DC-8E2F-4361-A49E-02378CF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index-4">
            <a:extLst xmlns:a="http://schemas.openxmlformats.org/drawingml/2006/main">
              <a:ext uri="{FF2B5EF4-FFF2-40B4-BE49-F238E27FC236}">
                <a16:creationId xmlns:a16="http://schemas.microsoft.com/office/drawing/2014/main" id="{321A8D25-E8DF-4E55-88AF-51FFCA6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E469A376-AFB0-4DE0-A8D9-7B46909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변화 증명</a:t>
            </a:r>
          </a:p>
        </p:txBody>
      </p:sp>
      <p:sp>
        <p:nvSpPr>
          <p:cNvPr id="21" name="stage-sub-4">
            <a:extLst xmlns:a="http://schemas.openxmlformats.org/drawingml/2006/main">
              <a:ext uri="{FF2B5EF4-FFF2-40B4-BE49-F238E27FC236}">
                <a16:creationId xmlns:a16="http://schemas.microsoft.com/office/drawing/2014/main" id="{9E54C16C-8A33-451E-BCAC-9F69A90F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Delta</a:t>
            </a:r>
          </a:p>
        </p:txBody>
      </p:sp>
      <p:sp>
        <p:nvSpPr>
          <p:cNvPr id="22" name="stage-node-5">
            <a:extLst xmlns:a="http://schemas.openxmlformats.org/drawingml/2006/main">
              <a:ext uri="{FF2B5EF4-FFF2-40B4-BE49-F238E27FC236}">
                <a16:creationId xmlns:a16="http://schemas.microsoft.com/office/drawing/2014/main" id="{5F73B4FB-4C3D-43D3-9C3F-2E5261F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18288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index-5">
            <a:extLst xmlns:a="http://schemas.openxmlformats.org/drawingml/2006/main">
              <a:ext uri="{FF2B5EF4-FFF2-40B4-BE49-F238E27FC236}">
                <a16:creationId xmlns:a16="http://schemas.microsoft.com/office/drawing/2014/main" id="{46009BAA-405A-4970-B665-DDAD6D89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stage-label-5">
            <a:extLst xmlns:a="http://schemas.openxmlformats.org/drawingml/2006/main">
              <a:ext uri="{FF2B5EF4-FFF2-40B4-BE49-F238E27FC236}">
                <a16:creationId xmlns:a16="http://schemas.microsoft.com/office/drawing/2014/main" id="{40F014FE-F89C-4159-AA3D-D66BFBF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상담 준비</a:t>
            </a:r>
          </a:p>
        </p:txBody>
      </p:sp>
      <p:sp>
        <p:nvSpPr>
          <p:cNvPr id="25" name="stage-sub-5">
            <a:extLst xmlns:a="http://schemas.openxmlformats.org/drawingml/2006/main">
              <a:ext uri="{FF2B5EF4-FFF2-40B4-BE49-F238E27FC236}">
                <a16:creationId xmlns:a16="http://schemas.microsoft.com/office/drawing/2014/main" id="{E1AADB76-893D-4D10-92B3-A51CB2D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95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Passport</a:t>
            </a:r>
          </a:p>
        </p:txBody>
      </p:sp>
      <p:sp>
        <p:nvSpPr>
          <p:cNvPr id="26" name="journey-caption">
            <a:extLst xmlns:a="http://schemas.openxmlformats.org/drawingml/2006/main">
              <a:ext uri="{FF2B5EF4-FFF2-40B4-BE49-F238E27FC236}">
                <a16:creationId xmlns:a16="http://schemas.microsoft.com/office/drawing/2014/main" id="{E21728D9-7179-4212-8F19-27AE820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리포트가 아니라 행동 가능한 결정 상태까지</a:t>
            </a:r>
          </a:p>
        </p:txBody>
      </p:sp>
    </p:spTree>
    <p:extLst>
      <p:ext uri="{BB962C8B-B14F-4D97-AF65-F5344CB8AC3E}">
        <p14:creationId xmlns:p14="http://schemas.microsoft.com/office/powerpoint/2010/main" val="133243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0CD97F1C-915B-4FA6-BFE9-5BF9D6F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1/3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B4E7049-B089-426B-88ED-1F4A94F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결과를 가장 크게 바꾸는 질문을 먼저 찾습니다</a:t>
            </a:r>
          </a:p>
        </p:txBody>
      </p:sp>
      <p:cxnSp>
        <p:nvCxnSpPr>
          <p:cNvPr id="21" name="header-rule-6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89F62C6-D747-4A01-9E8C-48BBD28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question-eyebrow">
            <a:extLst xmlns:a="http://schemas.openxmlformats.org/drawingml/2006/main">
              <a:ext uri="{FF2B5EF4-FFF2-40B4-BE49-F238E27FC236}">
                <a16:creationId xmlns:a16="http://schemas.microsoft.com/office/drawing/2014/main" id="{11D91C67-DD0C-4F2D-BDB2-ADC5916C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NEXT DECISIVE QUESTION</a:t>
            </a:r>
          </a:p>
        </p:txBody>
      </p:sp>
      <p:sp>
        <p:nvSpPr>
          <p:cNvPr id="6" name="question-main">
            <a:extLst xmlns:a="http://schemas.openxmlformats.org/drawingml/2006/main">
              <a:ext uri="{FF2B5EF4-FFF2-40B4-BE49-F238E27FC236}">
                <a16:creationId xmlns:a16="http://schemas.microsoft.com/office/drawing/2014/main" id="{FB70B0A2-0830-4704-80F7-2EF1DE5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619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보유한</a:t>
            </a:r>
          </a:p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잔액이 있습니까?</a:t>
            </a:r>
          </a:p>
        </p:txBody>
      </p:sp>
      <p:sp>
        <p:nvSpPr>
          <p:cNvPr id="7" name="question-impact">
            <a:extLst xmlns:a="http://schemas.openxmlformats.org/drawingml/2006/main">
              <a:ext uri="{FF2B5EF4-FFF2-40B4-BE49-F238E27FC236}">
                <a16:creationId xmlns:a16="http://schemas.microsoft.com/office/drawing/2014/main" id="{45902B57-0A11-40A0-934B-AD22BCA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0005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32CFC6BC-A215-48DF-AC1B-EEF1332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이 질문이 먼저인가</a:t>
            </a:r>
          </a:p>
        </p:txBody>
      </p:sp>
      <p:cxnSp>
        <p:nvCxnSpPr>
          <p:cNvPr id="27" name="impact-rule-0"/>
          <p:cNvCxnSpPr/>
          <p:nvPr/>
        </p:nvCxnSpPr>
        <p:spPr>
          <a:xfrm xmlns:a="http://schemas.openxmlformats.org/drawingml/2006/main">
            <a:off x="7581900" y="33718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0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2024C713-B209-4EF3-8F95-5ACDC586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공백 변경 가능성</a:t>
            </a:r>
          </a:p>
        </p:txBody>
      </p:sp>
      <p:sp>
        <p:nvSpPr>
          <p:cNvPr id="11" name="impact-value-0">
            <a:extLst xmlns:a="http://schemas.openxmlformats.org/drawingml/2006/main">
              <a:ext uri="{FF2B5EF4-FFF2-40B4-BE49-F238E27FC236}">
                <a16:creationId xmlns:a16="http://schemas.microsoft.com/office/drawing/2014/main" id="{AD6C0F05-0AC1-4A69-814F-06D8A14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CC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CC00"/>
                </a:solidFill>
                <a:latin typeface="Malgun Gothic"/>
                <a:ea typeface="Malgun Gothic"/>
                <a:cs typeface="Malgun Gothic"/>
              </a:rPr>
              <a:t>높음</a:t>
            </a:r>
          </a:p>
        </p:txBody>
      </p:sp>
      <p:cxnSp>
        <p:nvCxnSpPr>
          <p:cNvPr id="30" name="impact-rule-1"/>
          <p:cNvCxnSpPr/>
          <p:nvPr/>
        </p:nvCxnSpPr>
        <p:spPr>
          <a:xfrm xmlns:a="http://schemas.openxmlformats.org/drawingml/2006/main">
            <a:off x="7581900" y="40957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3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147B9EA9-FCD4-4868-A3FE-F310523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차단된 판정 해소</a:t>
            </a:r>
          </a:p>
        </p:txBody>
      </p:sp>
      <p:sp>
        <p:nvSpPr>
          <p:cNvPr id="14" name="impact-value-1">
            <a:extLst xmlns:a="http://schemas.openxmlformats.org/drawingml/2006/main">
              <a:ext uri="{FF2B5EF4-FFF2-40B4-BE49-F238E27FC236}">
                <a16:creationId xmlns:a16="http://schemas.microsoft.com/office/drawing/2014/main" id="{8505F644-ABDA-4F14-AE47-292946D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19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2개</a:t>
            </a:r>
          </a:p>
        </p:txBody>
      </p:sp>
      <p:cxnSp>
        <p:nvCxnSpPr>
          <p:cNvPr id="33" name="impact-rule-2"/>
          <p:cNvCxnSpPr/>
          <p:nvPr/>
        </p:nvCxnSpPr>
        <p:spPr>
          <a:xfrm xmlns:a="http://schemas.openxmlformats.org/drawingml/2006/main">
            <a:off x="7581900" y="4819650"/>
            <a:ext cx="331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6DF5AC5A-1285-4878-A74A-11E5CBEE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답변 가능성</a:t>
            </a:r>
          </a:p>
        </p:txBody>
      </p:sp>
      <p:sp>
        <p:nvSpPr>
          <p:cNvPr id="17" name="impact-value-2">
            <a:extLst xmlns:a="http://schemas.openxmlformats.org/drawingml/2006/main">
              <a:ext uri="{FF2B5EF4-FFF2-40B4-BE49-F238E27FC236}">
                <a16:creationId xmlns:a16="http://schemas.microsoft.com/office/drawing/2014/main" id="{4EAEFEEA-5319-411F-9757-AFF5C6B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43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7D62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18" name="question-footer">
            <a:extLst xmlns:a="http://schemas.openxmlformats.org/drawingml/2006/main">
              <a:ext uri="{FF2B5EF4-FFF2-40B4-BE49-F238E27FC236}">
                <a16:creationId xmlns:a16="http://schemas.microsoft.com/office/drawing/2014/main" id="{FDB84668-F19E-4117-B4DA-C975CF9D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누락정보를 많이 묻는 것이 아니라, 결정을 바꾸는 정보를 먼저 묻습니다.</a:t>
            </a:r>
          </a:p>
        </p:txBody>
      </p:sp>
    </p:spTree>
    <p:extLst>
      <p:ext uri="{BB962C8B-B14F-4D97-AF65-F5344CB8AC3E}">
        <p14:creationId xmlns:p14="http://schemas.microsoft.com/office/powerpoint/2010/main" val="1018561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7">
            <a:extLst xmlns:a="http://schemas.openxmlformats.org/drawingml/2006/main">
              <a:ext uri="{FF2B5EF4-FFF2-40B4-BE49-F238E27FC236}">
                <a16:creationId xmlns:a16="http://schemas.microsoft.com/office/drawing/2014/main" id="{A9972212-022C-4D13-9D19-58DEE77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2/3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0FFDEBF-E0E1-4057-9C45-6C9F626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답변 전후에 바뀐 것만 증명합니다</a:t>
            </a:r>
          </a:p>
        </p:txBody>
      </p:sp>
      <p:cxnSp>
        <p:nvCxnSpPr>
          <p:cNvPr id="30" name="header-rule-7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3412007-F6A9-4054-AEA4-E6DDCBC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delta-label">
            <a:extLst xmlns:a="http://schemas.openxmlformats.org/drawingml/2006/main">
              <a:ext uri="{FF2B5EF4-FFF2-40B4-BE49-F238E27FC236}">
                <a16:creationId xmlns:a16="http://schemas.microsoft.com/office/drawing/2014/main" id="{1F6DFE00-219E-42EF-B4E3-6AB179E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DELTA</a:t>
            </a:r>
          </a:p>
        </p:txBody>
      </p:sp>
      <p:sp>
        <p:nvSpPr>
          <p:cNvPr id="6" name="delta-old">
            <a:extLst xmlns:a="http://schemas.openxmlformats.org/drawingml/2006/main">
              <a:ext uri="{FF2B5EF4-FFF2-40B4-BE49-F238E27FC236}">
                <a16:creationId xmlns:a16="http://schemas.microsoft.com/office/drawing/2014/main" id="{D6BD6985-5979-4912-AB52-725E26A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USD 60,000</a:t>
            </a:r>
          </a:p>
        </p:txBody>
      </p:sp>
      <p:sp>
        <p:nvSpPr>
          <p:cNvPr id="7" name="delta-arrow">
            <a:extLst xmlns:a="http://schemas.openxmlformats.org/drawingml/2006/main">
              <a:ext uri="{FF2B5EF4-FFF2-40B4-BE49-F238E27FC236}">
                <a16:creationId xmlns:a16="http://schemas.microsoft.com/office/drawing/2014/main" id="{753E035C-F9BD-4003-BC23-14B6238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delta-new">
            <a:extLst xmlns:a="http://schemas.openxmlformats.org/drawingml/2006/main">
              <a:ext uri="{FF2B5EF4-FFF2-40B4-BE49-F238E27FC236}">
                <a16:creationId xmlns:a16="http://schemas.microsoft.com/office/drawing/2014/main" id="{22BD2286-D191-4B31-8DB4-96C7659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USD 40,000</a:t>
            </a:r>
          </a:p>
        </p:txBody>
      </p:sp>
      <p:sp>
        <p:nvSpPr>
          <p:cNvPr id="9" name="delta-cause">
            <a:extLst xmlns:a="http://schemas.openxmlformats.org/drawingml/2006/main">
              <a:ext uri="{FF2B5EF4-FFF2-40B4-BE49-F238E27FC236}">
                <a16:creationId xmlns:a16="http://schemas.microsoft.com/office/drawing/2014/main" id="{821F7187-2DD4-4368-81BB-2C613C0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보유 외화 USD 20,000 반영</a:t>
            </a:r>
          </a:p>
        </p:txBody>
      </p:sp>
      <p:sp>
        <p:nvSpPr>
          <p:cNvPr id="10" name="delta-next">
            <a:extLst xmlns:a="http://schemas.openxmlformats.org/drawingml/2006/main">
              <a:ext uri="{FF2B5EF4-FFF2-40B4-BE49-F238E27FC236}">
                <a16:creationId xmlns:a16="http://schemas.microsoft.com/office/drawing/2014/main" id="{0455F976-0B80-4B53-984B-E91029A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다음 확인: 은행 사전상담 여부</a:t>
            </a:r>
          </a:p>
        </p:txBody>
      </p:sp>
      <p:sp>
        <p:nvSpPr>
          <p:cNvPr id="11" name="demo-screen-frame">
            <a:extLst xmlns:a="http://schemas.openxmlformats.org/drawingml/2006/main">
              <a:ext uri="{FF2B5EF4-FFF2-40B4-BE49-F238E27FC236}">
                <a16:creationId xmlns:a16="http://schemas.microsoft.com/office/drawing/2014/main" id="{64B81743-8B51-45C3-8623-C4F02BF1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913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2" name="demo-screen-header">
            <a:extLst xmlns:a="http://schemas.openxmlformats.org/drawingml/2006/main">
              <a:ext uri="{FF2B5EF4-FFF2-40B4-BE49-F238E27FC236}">
                <a16:creationId xmlns:a16="http://schemas.microsoft.com/office/drawing/2014/main" id="{56410FEB-1CBD-4B79-9182-E23A6B2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913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mo-dot-1">
            <a:extLst xmlns:a="http://schemas.openxmlformats.org/drawingml/2006/main">
              <a:ext uri="{FF2B5EF4-FFF2-40B4-BE49-F238E27FC236}">
                <a16:creationId xmlns:a16="http://schemas.microsoft.com/office/drawing/2014/main" id="{6966727F-A323-4D31-A475-14FC8AC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mo-dot-2">
            <a:extLst xmlns:a="http://schemas.openxmlformats.org/drawingml/2006/main">
              <a:ext uri="{FF2B5EF4-FFF2-40B4-BE49-F238E27FC236}">
                <a16:creationId xmlns:a16="http://schemas.microsoft.com/office/drawing/2014/main" id="{7194E6C4-F126-485D-AE32-82D16D7B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mo-dot-3">
            <a:extLst xmlns:a="http://schemas.openxmlformats.org/drawingml/2006/main">
              <a:ext uri="{FF2B5EF4-FFF2-40B4-BE49-F238E27FC236}">
                <a16:creationId xmlns:a16="http://schemas.microsoft.com/office/drawing/2014/main" id="{062B7AC0-9383-43F2-B938-377CA1D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4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mo-screen-label">
            <a:extLst xmlns:a="http://schemas.openxmlformats.org/drawingml/2006/main">
              <a:ext uri="{FF2B5EF4-FFF2-40B4-BE49-F238E27FC236}">
                <a16:creationId xmlns:a16="http://schemas.microsoft.com/office/drawing/2014/main" id="{0C908882-9732-4FAF-9B9C-3F911E9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DEMO SCREEN</a:t>
            </a:r>
          </a:p>
        </p:txBody>
      </p:sp>
      <p:sp>
        <p:nvSpPr>
          <p:cNvPr id="17" name="demo-screen-title">
            <a:extLst xmlns:a="http://schemas.openxmlformats.org/drawingml/2006/main">
              <a:ext uri="{FF2B5EF4-FFF2-40B4-BE49-F238E27FC236}">
                <a16:creationId xmlns:a16="http://schemas.microsoft.com/office/drawing/2014/main" id="{7534BE04-9E7E-46C1-A00D-F32F4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 2건으로 다시 계산했습니다</a:t>
            </a:r>
          </a:p>
        </p:txBody>
      </p:sp>
      <p:sp>
        <p:nvSpPr>
          <p:cNvPr id="18" name="demo-stat-label-0">
            <a:extLst xmlns:a="http://schemas.openxmlformats.org/drawingml/2006/main">
              <a:ext uri="{FF2B5EF4-FFF2-40B4-BE49-F238E27FC236}">
                <a16:creationId xmlns:a16="http://schemas.microsoft.com/office/drawing/2014/main" id="{0C6FEE0A-22CA-4CF5-83C1-8B0EE7A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순노출</a:t>
            </a:r>
          </a:p>
        </p:txBody>
      </p:sp>
      <p:sp>
        <p:nvSpPr>
          <p:cNvPr id="19" name="demo-stat-value-0">
            <a:extLst xmlns:a="http://schemas.openxmlformats.org/drawingml/2006/main">
              <a:ext uri="{FF2B5EF4-FFF2-40B4-BE49-F238E27FC236}">
                <a16:creationId xmlns:a16="http://schemas.microsoft.com/office/drawing/2014/main" id="{EF9C6E08-FF10-4A6B-9F70-927E64E5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+40,000 USD</a:t>
            </a:r>
          </a:p>
        </p:txBody>
      </p:sp>
      <p:sp>
        <p:nvSpPr>
          <p:cNvPr id="20" name="demo-stat-label-1">
            <a:extLst xmlns:a="http://schemas.openxmlformats.org/drawingml/2006/main">
              <a:ext uri="{FF2B5EF4-FFF2-40B4-BE49-F238E27FC236}">
                <a16:creationId xmlns:a16="http://schemas.microsoft.com/office/drawing/2014/main" id="{10898031-D6A2-4062-B977-C48AAE1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공백</a:t>
            </a:r>
          </a:p>
        </p:txBody>
      </p:sp>
      <p:sp>
        <p:nvSpPr>
          <p:cNvPr id="21" name="demo-stat-value-1">
            <a:extLst xmlns:a="http://schemas.openxmlformats.org/drawingml/2006/main">
              <a:ext uri="{FF2B5EF4-FFF2-40B4-BE49-F238E27FC236}">
                <a16:creationId xmlns:a16="http://schemas.microsoft.com/office/drawing/2014/main" id="{BC88A281-B1B1-4BCB-AA7E-83339A0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60,000 USD</a:t>
            </a:r>
          </a:p>
        </p:txBody>
      </p:sp>
      <p:sp>
        <p:nvSpPr>
          <p:cNvPr id="22" name="demo-stat-label-2">
            <a:extLst xmlns:a="http://schemas.openxmlformats.org/drawingml/2006/main">
              <a:ext uri="{FF2B5EF4-FFF2-40B4-BE49-F238E27FC236}">
                <a16:creationId xmlns:a16="http://schemas.microsoft.com/office/drawing/2014/main" id="{6311DB88-7B66-404C-AA52-8DC0B7FC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자연헤지</a:t>
            </a:r>
          </a:p>
        </p:txBody>
      </p:sp>
      <p:sp>
        <p:nvSpPr>
          <p:cNvPr id="23" name="demo-stat-value-2">
            <a:extLst xmlns:a="http://schemas.openxmlformats.org/drawingml/2006/main">
              <a:ext uri="{FF2B5EF4-FFF2-40B4-BE49-F238E27FC236}">
                <a16:creationId xmlns:a16="http://schemas.microsoft.com/office/drawing/2014/main" id="{BA06B84C-CB0D-459F-9111-42A80A3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60,000 USD</a:t>
            </a:r>
          </a:p>
        </p:txBody>
      </p:sp>
      <p:cxnSp>
        <p:nvCxnSpPr>
          <p:cNvPr id="51" name="demo-divider"/>
          <p:cNvCxnSpPr/>
          <p:nvPr/>
        </p:nvCxnSpPr>
        <p:spPr>
          <a:xfrm xmlns:a="http://schemas.openxmlformats.org/drawingml/2006/main">
            <a:off x="4933950" y="4229100"/>
            <a:ext cx="617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25" name="demo-explanation">
            <a:extLst xmlns:a="http://schemas.openxmlformats.org/drawingml/2006/main">
              <a:ext uri="{FF2B5EF4-FFF2-40B4-BE49-F238E27FC236}">
                <a16:creationId xmlns:a16="http://schemas.microsoft.com/office/drawing/2014/main" id="{BCF6F64D-D45C-4E54-BD91-2F013CC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14850"/>
            <a:ext cx="480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상계될 것처럼 보이지만 결제일이 어긋나</a:t>
            </a:r>
          </a:p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만기가 겹치는 금액은 0입니다.</a:t>
            </a:r>
          </a:p>
        </p:txBody>
      </p:sp>
      <p:sp>
        <p:nvSpPr>
          <p:cNvPr id="26" name="demo-next">
            <a:extLst xmlns:a="http://schemas.openxmlformats.org/drawingml/2006/main">
              <a:ext uri="{FF2B5EF4-FFF2-40B4-BE49-F238E27FC236}">
                <a16:creationId xmlns:a16="http://schemas.microsoft.com/office/drawing/2014/main" id="{59B2578C-0D0E-4477-9B0D-6B8132A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95800"/>
            <a:ext cx="1333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next-text">
            <a:extLst xmlns:a="http://schemas.openxmlformats.org/drawingml/2006/main">
              <a:ext uri="{FF2B5EF4-FFF2-40B4-BE49-F238E27FC236}">
                <a16:creationId xmlns:a16="http://schemas.microsoft.com/office/drawing/2014/main" id="{1E711094-8FCA-472C-8F94-B1BC64A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6725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질문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보유 외화</a:t>
            </a:r>
          </a:p>
        </p:txBody>
      </p:sp>
    </p:spTree>
    <p:extLst>
      <p:ext uri="{BB962C8B-B14F-4D97-AF65-F5344CB8AC3E}">
        <p14:creationId xmlns:p14="http://schemas.microsoft.com/office/powerpoint/2010/main" val="765345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8">
            <a:extLst xmlns:a="http://schemas.openxmlformats.org/drawingml/2006/main">
              <a:ext uri="{FF2B5EF4-FFF2-40B4-BE49-F238E27FC236}">
                <a16:creationId xmlns:a16="http://schemas.microsoft.com/office/drawing/2014/main" id="{D9B0D90A-239F-4979-9EC5-F824B4BE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DIFFERENTIATION 3/3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EB4439C-066B-48D6-B5F9-C3296D3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 근거를 상담자료로 보존합니다</a:t>
            </a:r>
          </a:p>
        </p:txBody>
      </p:sp>
      <p:cxnSp>
        <p:nvCxnSpPr>
          <p:cNvPr id="29" name="header-rule-8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1DDA1B4-86DD-45A4-BCA6-D6EAF2A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passport-sheet">
            <a:extLst xmlns:a="http://schemas.openxmlformats.org/drawingml/2006/main">
              <a:ext uri="{FF2B5EF4-FFF2-40B4-BE49-F238E27FC236}">
                <a16:creationId xmlns:a16="http://schemas.microsoft.com/office/drawing/2014/main" id="{98F91DD9-647A-4960-9417-9CB46B8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858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6" name="passport-band">
            <a:extLst xmlns:a="http://schemas.openxmlformats.org/drawingml/2006/main">
              <a:ext uri="{FF2B5EF4-FFF2-40B4-BE49-F238E27FC236}">
                <a16:creationId xmlns:a16="http://schemas.microsoft.com/office/drawing/2014/main" id="{803E1DF0-C6E5-4F05-A3FF-F4EE1D1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85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ssport-title">
            <a:extLst xmlns:a="http://schemas.openxmlformats.org/drawingml/2006/main">
              <a:ext uri="{FF2B5EF4-FFF2-40B4-BE49-F238E27FC236}">
                <a16:creationId xmlns:a16="http://schemas.microsoft.com/office/drawing/2014/main" id="{14DAF1DA-AD63-4681-9702-4199C22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Decision Passport</a:t>
            </a:r>
          </a:p>
        </p:txBody>
      </p:sp>
      <p:cxnSp>
        <p:nvCxnSpPr>
          <p:cNvPr id="34" name="passport-rule-0"/>
          <p:cNvCxnSpPr/>
          <p:nvPr/>
        </p:nvCxnSpPr>
        <p:spPr>
          <a:xfrm xmlns:a="http://schemas.openxmlformats.org/drawingml/2006/main">
            <a:off x="1009650" y="30289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9" name="passport-key-0">
            <a:extLst xmlns:a="http://schemas.openxmlformats.org/drawingml/2006/main">
              <a:ext uri="{FF2B5EF4-FFF2-40B4-BE49-F238E27FC236}">
                <a16:creationId xmlns:a16="http://schemas.microsoft.com/office/drawing/2014/main" id="{89B7771F-19DB-478B-B1FD-DF89BA4D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사실</a:t>
            </a:r>
          </a:p>
        </p:txBody>
      </p:sp>
      <p:sp>
        <p:nvSpPr>
          <p:cNvPr id="10" name="passport-value-0">
            <a:extLst xmlns:a="http://schemas.openxmlformats.org/drawingml/2006/main">
              <a:ext uri="{FF2B5EF4-FFF2-40B4-BE49-F238E27FC236}">
                <a16:creationId xmlns:a16="http://schemas.microsoft.com/office/drawing/2014/main" id="{93CE3804-E815-4643-AC18-64BB888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 2건 · 통화 USD · 결제일 2개</a:t>
            </a:r>
          </a:p>
        </p:txBody>
      </p:sp>
      <p:cxnSp>
        <p:nvCxnSpPr>
          <p:cNvPr id="37" name="passport-rule-1"/>
          <p:cNvCxnSpPr/>
          <p:nvPr/>
        </p:nvCxnSpPr>
        <p:spPr>
          <a:xfrm xmlns:a="http://schemas.openxmlformats.org/drawingml/2006/main">
            <a:off x="1009650" y="36385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2" name="passport-key-1">
            <a:extLst xmlns:a="http://schemas.openxmlformats.org/drawingml/2006/main">
              <a:ext uri="{FF2B5EF4-FFF2-40B4-BE49-F238E27FC236}">
                <a16:creationId xmlns:a16="http://schemas.microsoft.com/office/drawing/2014/main" id="{7A0EDA73-C2C7-4937-83B5-1B9884F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13" name="passport-value-1">
            <a:extLst xmlns:a="http://schemas.openxmlformats.org/drawingml/2006/main">
              <a:ext uri="{FF2B5EF4-FFF2-40B4-BE49-F238E27FC236}">
                <a16:creationId xmlns:a16="http://schemas.microsoft.com/office/drawing/2014/main" id="{A9E9F880-0C18-4CD7-B395-B379723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385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자금 공백 60,000 · 순노출 40,000</a:t>
            </a:r>
          </a:p>
        </p:txBody>
      </p:sp>
      <p:cxnSp>
        <p:nvCxnSpPr>
          <p:cNvPr id="40" name="passport-rule-2"/>
          <p:cNvCxnSpPr/>
          <p:nvPr/>
        </p:nvCxnSpPr>
        <p:spPr>
          <a:xfrm xmlns:a="http://schemas.openxmlformats.org/drawingml/2006/main">
            <a:off x="1009650" y="42481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5" name="passport-key-2">
            <a:extLst xmlns:a="http://schemas.openxmlformats.org/drawingml/2006/main">
              <a:ext uri="{FF2B5EF4-FFF2-40B4-BE49-F238E27FC236}">
                <a16:creationId xmlns:a16="http://schemas.microsoft.com/office/drawing/2014/main" id="{280989D7-CE84-4977-86F6-B9F049F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규칙</a:t>
            </a:r>
          </a:p>
        </p:txBody>
      </p:sp>
      <p:sp>
        <p:nvSpPr>
          <p:cNvPr id="16" name="passport-value-2">
            <a:extLst xmlns:a="http://schemas.openxmlformats.org/drawingml/2006/main">
              <a:ext uri="{FF2B5EF4-FFF2-40B4-BE49-F238E27FC236}">
                <a16:creationId xmlns:a16="http://schemas.microsoft.com/office/drawing/2014/main" id="{FD343579-AAC6-4DC4-9C0B-352D51A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rule ID · version · 검토 상태</a:t>
            </a:r>
          </a:p>
        </p:txBody>
      </p:sp>
      <p:cxnSp>
        <p:nvCxnSpPr>
          <p:cNvPr id="43" name="passport-rule-3"/>
          <p:cNvCxnSpPr/>
          <p:nvPr/>
        </p:nvCxnSpPr>
        <p:spPr>
          <a:xfrm xmlns:a="http://schemas.openxmlformats.org/drawingml/2006/main">
            <a:off x="1009650" y="48577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18" name="passport-key-3">
            <a:extLst xmlns:a="http://schemas.openxmlformats.org/drawingml/2006/main">
              <a:ext uri="{FF2B5EF4-FFF2-40B4-BE49-F238E27FC236}">
                <a16:creationId xmlns:a16="http://schemas.microsoft.com/office/drawing/2014/main" id="{B77624DB-1B25-40A8-AA9D-CCCA4A8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출처</a:t>
            </a:r>
          </a:p>
        </p:txBody>
      </p:sp>
      <p:sp>
        <p:nvSpPr>
          <p:cNvPr id="19" name="passport-value-3">
            <a:extLst xmlns:a="http://schemas.openxmlformats.org/drawingml/2006/main">
              <a:ext uri="{FF2B5EF4-FFF2-40B4-BE49-F238E27FC236}">
                <a16:creationId xmlns:a16="http://schemas.microsoft.com/office/drawing/2014/main" id="{03F89856-2ACB-4259-973C-5603552B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 URL · 기준일 · content hash</a:t>
            </a:r>
          </a:p>
        </p:txBody>
      </p:sp>
      <p:cxnSp>
        <p:nvCxnSpPr>
          <p:cNvPr id="46" name="passport-rule-4"/>
          <p:cNvCxnSpPr/>
          <p:nvPr/>
        </p:nvCxnSpPr>
        <p:spPr>
          <a:xfrm xmlns:a="http://schemas.openxmlformats.org/drawingml/2006/main">
            <a:off x="1009650" y="54673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21" name="passport-key-4">
            <a:extLst xmlns:a="http://schemas.openxmlformats.org/drawingml/2006/main">
              <a:ext uri="{FF2B5EF4-FFF2-40B4-BE49-F238E27FC236}">
                <a16:creationId xmlns:a16="http://schemas.microsoft.com/office/drawing/2014/main" id="{40A0D914-8763-41EE-A606-728DA15E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미확인</a:t>
            </a:r>
          </a:p>
        </p:txBody>
      </p:sp>
      <p:sp>
        <p:nvSpPr>
          <p:cNvPr id="22" name="passport-value-4">
            <a:extLst xmlns:a="http://schemas.openxmlformats.org/drawingml/2006/main">
              <a:ext uri="{FF2B5EF4-FFF2-40B4-BE49-F238E27FC236}">
                <a16:creationId xmlns:a16="http://schemas.microsoft.com/office/drawing/2014/main" id="{E68ED07A-F625-4446-B895-26269D37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사전상담 여부 · 추가 필요서류</a:t>
            </a:r>
          </a:p>
        </p:txBody>
      </p:sp>
      <p:sp>
        <p:nvSpPr>
          <p:cNvPr id="23" name="passport-arrow">
            <a:extLst xmlns:a="http://schemas.openxmlformats.org/drawingml/2006/main">
              <a:ext uri="{FF2B5EF4-FFF2-40B4-BE49-F238E27FC236}">
                <a16:creationId xmlns:a16="http://schemas.microsoft.com/office/drawing/2014/main" id="{0A5C6CD6-5AE8-455C-A46F-143E004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passport-outcome">
            <a:extLst xmlns:a="http://schemas.openxmlformats.org/drawingml/2006/main">
              <a:ext uri="{FF2B5EF4-FFF2-40B4-BE49-F238E27FC236}">
                <a16:creationId xmlns:a16="http://schemas.microsoft.com/office/drawing/2014/main" id="{BE9EB251-42AB-48AD-983C-6CE13D7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금융기관이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검토할 수 있는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최소 결정 패킷</a:t>
            </a:r>
          </a:p>
        </p:txBody>
      </p:sp>
      <p:sp>
        <p:nvSpPr>
          <p:cNvPr id="25" name="passport-boundary">
            <a:extLst xmlns:a="http://schemas.openxmlformats.org/drawingml/2006/main">
              <a:ext uri="{FF2B5EF4-FFF2-40B4-BE49-F238E27FC236}">
                <a16:creationId xmlns:a16="http://schemas.microsoft.com/office/drawing/2014/main" id="{22A5C9C2-DD72-45C6-82B2-D51B8000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2514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ssport-boundary-text">
            <a:extLst xmlns:a="http://schemas.openxmlformats.org/drawingml/2006/main">
              <a:ext uri="{FF2B5EF4-FFF2-40B4-BE49-F238E27FC236}">
                <a16:creationId xmlns:a16="http://schemas.microsoft.com/office/drawing/2014/main" id="{13DD80D8-3B82-4CC3-9E54-17681162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10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자동 승인 아님</a:t>
            </a:r>
          </a:p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은행 검증 상태와 분리</a:t>
            </a:r>
          </a:p>
        </p:txBody>
      </p:sp>
    </p:spTree>
    <p:extLst>
      <p:ext uri="{BB962C8B-B14F-4D97-AF65-F5344CB8AC3E}">
        <p14:creationId xmlns:p14="http://schemas.microsoft.com/office/powerpoint/2010/main" val="979561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9">
            <a:extLst xmlns:a="http://schemas.openxmlformats.org/drawingml/2006/main">
              <a:ext uri="{FF2B5EF4-FFF2-40B4-BE49-F238E27FC236}">
                <a16:creationId xmlns:a16="http://schemas.microsoft.com/office/drawing/2014/main" id="{ED7A41D3-50B5-44A9-B8AA-8D6A76C4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TECHNOLOGY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5916A87-C971-4C35-B096-2FCE8156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결제일 원장이 자금 공백과 환노출을 함께 계산합니다</a:t>
            </a:r>
          </a:p>
        </p:txBody>
      </p:sp>
      <p:cxnSp>
        <p:nvCxnSpPr>
          <p:cNvPr id="13" name="header-rule-9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6BF1211C-B375-48EB-B4F9-63E1E1E8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96c0d98c7348c5"/>
          </a:graphicData>
        </a:graphic>
      </p:graphicFrame>
      <p:sp>
        <p:nvSpPr>
          <p:cNvPr id="6" name="chart-formula-label">
            <a:extLst xmlns:a="http://schemas.openxmlformats.org/drawingml/2006/main">
              <a:ext uri="{FF2B5EF4-FFF2-40B4-BE49-F238E27FC236}">
                <a16:creationId xmlns:a16="http://schemas.microsoft.com/office/drawing/2014/main" id="{293FDCAD-A2A8-4070-884D-8F276C8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핵심 계산</a:t>
            </a:r>
          </a:p>
        </p:txBody>
      </p:sp>
      <p:sp>
        <p:nvSpPr>
          <p:cNvPr id="7" name="chart-formula">
            <a:extLst xmlns:a="http://schemas.openxmlformats.org/drawingml/2006/main">
              <a:ext uri="{FF2B5EF4-FFF2-40B4-BE49-F238E27FC236}">
                <a16:creationId xmlns:a16="http://schemas.microsoft.com/office/drawing/2014/main" id="{932546BC-EFBD-43E8-A479-86CB6A92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Funding Gap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= max(0, -min B(t))</a:t>
            </a:r>
          </a:p>
        </p:txBody>
      </p:sp>
      <p:sp>
        <p:nvSpPr>
          <p:cNvPr id="8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75211D6D-FC2A-4ECD-8D62-0515ED9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857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rt-insight-value">
            <a:extLst xmlns:a="http://schemas.openxmlformats.org/drawingml/2006/main">
              <a:ext uri="{FF2B5EF4-FFF2-40B4-BE49-F238E27FC236}">
                <a16:creationId xmlns:a16="http://schemas.microsoft.com/office/drawing/2014/main" id="{297281AC-EA94-4BF0-B4A3-6C4CE01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814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60,000</a:t>
            </a:r>
          </a:p>
        </p:txBody>
      </p:sp>
      <p:sp>
        <p:nvSpPr>
          <p:cNvPr id="10" name="chart-insight-copy">
            <a:extLst xmlns:a="http://schemas.openxmlformats.org/drawingml/2006/main">
              <a:ext uri="{FF2B5EF4-FFF2-40B4-BE49-F238E27FC236}">
                <a16:creationId xmlns:a16="http://schemas.microsoft.com/office/drawing/2014/main" id="{8208F520-17A1-452C-A7B6-E05F130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91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8월 25일부터 60일간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필요한 최대 외화자금</a:t>
            </a:r>
          </a:p>
        </p:txBody>
      </p:sp>
    </p:spTree>
    <p:extLst>
      <p:ext uri="{BB962C8B-B14F-4D97-AF65-F5344CB8AC3E}">
        <p14:creationId xmlns:p14="http://schemas.microsoft.com/office/powerpoint/2010/main" val="1810185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0">
            <a:extLst xmlns:a="http://schemas.openxmlformats.org/drawingml/2006/main">
              <a:ext uri="{FF2B5EF4-FFF2-40B4-BE49-F238E27FC236}">
                <a16:creationId xmlns:a16="http://schemas.microsoft.com/office/drawing/2014/main" id="{1946E3AD-9DEA-4D38-B1EE-A82DECC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TECHNOLOGY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E95D4434-5291-4B26-9335-94CF617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LLM은 설명하고, 엔진은 금액과 판정을 책임집니다</a:t>
            </a:r>
          </a:p>
        </p:txBody>
      </p:sp>
      <p:cxnSp>
        <p:nvCxnSpPr>
          <p:cNvPr id="27" name="header-rule-10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895F97DC-476A-4C16-831C-070E673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cxnSp>
        <p:nvCxnSpPr>
          <p:cNvPr id="29" name="arch-line-1"/>
          <p:cNvCxnSpPr/>
          <p:nvPr/>
        </p:nvCxnSpPr>
        <p:spPr>
          <a:xfrm xmlns:a="http://schemas.openxmlformats.org/drawingml/2006/main">
            <a:off x="20383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30" name="arch-line-2"/>
          <p:cNvCxnSpPr/>
          <p:nvPr/>
        </p:nvCxnSpPr>
        <p:spPr>
          <a:xfrm xmlns:a="http://schemas.openxmlformats.org/drawingml/2006/main">
            <a:off x="48196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cxnSp>
        <p:nvCxnSpPr>
          <p:cNvPr id="31" name="arch-line-3"/>
          <p:cNvCxnSpPr/>
          <p:nvPr/>
        </p:nvCxnSpPr>
        <p:spPr>
          <a:xfrm xmlns:a="http://schemas.openxmlformats.org/drawingml/2006/main">
            <a:off x="7600950" y="33528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8" name="arch-box-0">
            <a:extLst xmlns:a="http://schemas.openxmlformats.org/drawingml/2006/main">
              <a:ext uri="{FF2B5EF4-FFF2-40B4-BE49-F238E27FC236}">
                <a16:creationId xmlns:a16="http://schemas.microsoft.com/office/drawing/2014/main" id="{2D6AB2D3-D6ED-481E-B576-50DF5FE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num-0">
            <a:extLst xmlns:a="http://schemas.openxmlformats.org/drawingml/2006/main">
              <a:ext uri="{FF2B5EF4-FFF2-40B4-BE49-F238E27FC236}">
                <a16:creationId xmlns:a16="http://schemas.microsoft.com/office/drawing/2014/main" id="{F623ADF8-1320-4DD0-961A-DEC9C68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D4B59710-1AF3-4DF2-805A-A9A5A0CD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확인된 사실</a:t>
            </a:r>
          </a:p>
        </p:txBody>
      </p:sp>
      <p:sp>
        <p:nvSpPr>
          <p:cNvPr id="11" name="arch-sub-0">
            <a:extLst xmlns:a="http://schemas.openxmlformats.org/drawingml/2006/main">
              <a:ext uri="{FF2B5EF4-FFF2-40B4-BE49-F238E27FC236}">
                <a16:creationId xmlns:a16="http://schemas.microsoft.com/office/drawing/2014/main" id="{05795C0F-42B4-4B03-97D4-A6ADB86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문서 확인</a:t>
            </a:r>
          </a:p>
        </p:txBody>
      </p:sp>
      <p:sp>
        <p:nvSpPr>
          <p:cNvPr id="12" name="arch-box-1">
            <a:extLst xmlns:a="http://schemas.openxmlformats.org/drawingml/2006/main">
              <a:ext uri="{FF2B5EF4-FFF2-40B4-BE49-F238E27FC236}">
                <a16:creationId xmlns:a16="http://schemas.microsoft.com/office/drawing/2014/main" id="{BD540555-3496-4C06-BDD9-37E99A0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num-1">
            <a:extLst xmlns:a="http://schemas.openxmlformats.org/drawingml/2006/main">
              <a:ext uri="{FF2B5EF4-FFF2-40B4-BE49-F238E27FC236}">
                <a16:creationId xmlns:a16="http://schemas.microsoft.com/office/drawing/2014/main" id="{0316FEB4-CCEC-4BFF-AE78-57CF576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B9C25DFF-C20E-4AC3-AA8E-1E7D9B7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결정론적 코어</a:t>
            </a:r>
          </a:p>
        </p:txBody>
      </p:sp>
      <p:sp>
        <p:nvSpPr>
          <p:cNvPr id="15" name="arch-sub-1">
            <a:extLst xmlns:a="http://schemas.openxmlformats.org/drawingml/2006/main">
              <a:ext uri="{FF2B5EF4-FFF2-40B4-BE49-F238E27FC236}">
                <a16:creationId xmlns:a16="http://schemas.microsoft.com/office/drawing/2014/main" id="{E480ECD3-E7A9-4193-9AED-F590C9A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자금 계산</a:t>
            </a:r>
          </a:p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근거 규칙</a:t>
            </a:r>
          </a:p>
        </p:txBody>
      </p:sp>
      <p:sp>
        <p:nvSpPr>
          <p:cNvPr id="16" name="arch-box-2">
            <a:extLst xmlns:a="http://schemas.openxmlformats.org/drawingml/2006/main">
              <a:ext uri="{FF2B5EF4-FFF2-40B4-BE49-F238E27FC236}">
                <a16:creationId xmlns:a16="http://schemas.microsoft.com/office/drawing/2014/main" id="{23271A78-E10F-45F1-9586-ADF2B3F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num-2">
            <a:extLst xmlns:a="http://schemas.openxmlformats.org/drawingml/2006/main">
              <a:ext uri="{FF2B5EF4-FFF2-40B4-BE49-F238E27FC236}">
                <a16:creationId xmlns:a16="http://schemas.microsoft.com/office/drawing/2014/main" id="{3C044F94-978B-4964-99C9-D2C7413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192DC6C2-908F-471C-B50F-C9C2DCB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Decision Packet</a:t>
            </a:r>
          </a:p>
        </p:txBody>
      </p:sp>
      <p:sp>
        <p:nvSpPr>
          <p:cNvPr id="19" name="arch-sub-2">
            <a:extLst xmlns:a="http://schemas.openxmlformats.org/drawingml/2006/main">
              <a:ext uri="{FF2B5EF4-FFF2-40B4-BE49-F238E27FC236}">
                <a16:creationId xmlns:a16="http://schemas.microsoft.com/office/drawing/2014/main" id="{59E538BE-8B13-42B4-AEAA-82C6A438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숫자·상태</a:t>
            </a:r>
          </a:p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출처·버전</a:t>
            </a:r>
          </a:p>
        </p:txBody>
      </p:sp>
      <p:sp>
        <p:nvSpPr>
          <p:cNvPr id="20" name="arch-box-3">
            <a:extLst xmlns:a="http://schemas.openxmlformats.org/drawingml/2006/main">
              <a:ext uri="{FF2B5EF4-FFF2-40B4-BE49-F238E27FC236}">
                <a16:creationId xmlns:a16="http://schemas.microsoft.com/office/drawing/2014/main" id="{AC7CCB8E-B210-4ED9-8F74-D9AEAD7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286000" cy="21526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num-3">
            <a:extLst xmlns:a="http://schemas.openxmlformats.org/drawingml/2006/main">
              <a:ext uri="{FF2B5EF4-FFF2-40B4-BE49-F238E27FC236}">
                <a16:creationId xmlns:a16="http://schemas.microsoft.com/office/drawing/2014/main" id="{17FF501A-041B-43B6-95EB-575CB912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06B8575D-C03A-435A-9C23-BBAA571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표현·검토</a:t>
            </a:r>
          </a:p>
        </p:txBody>
      </p:sp>
      <p:sp>
        <p:nvSpPr>
          <p:cNvPr id="23" name="arch-sub-3">
            <a:extLst xmlns:a="http://schemas.openxmlformats.org/drawingml/2006/main">
              <a:ext uri="{FF2B5EF4-FFF2-40B4-BE49-F238E27FC236}">
                <a16:creationId xmlns:a16="http://schemas.microsoft.com/office/drawing/2014/main" id="{BAC3F65B-273A-4240-86D6-493636D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LLM 설명</a:t>
            </a:r>
          </a:p>
          <a:p xmlns:a="http://schemas.openxmlformats.org/drawingml/2006/main">
            <a:pPr algn="l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사람의 승인</a:t>
            </a:r>
          </a:p>
        </p:txBody>
      </p:sp>
      <p:sp>
        <p:nvSpPr>
          <p:cNvPr id="24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467927BE-AAA1-410B-B8F0-0E0C070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784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같은 입력·같은 규칙 버전이면 같은 결정 패킷을 재현합니다.</a:t>
            </a:r>
          </a:p>
        </p:txBody>
      </p:sp>
    </p:spTree>
    <p:extLst>
      <p:ext uri="{BB962C8B-B14F-4D97-AF65-F5344CB8AC3E}">
        <p14:creationId xmlns:p14="http://schemas.microsoft.com/office/powerpoint/2010/main" val="1522342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1">
            <a:extLst xmlns:a="http://schemas.openxmlformats.org/drawingml/2006/main">
              <a:ext uri="{FF2B5EF4-FFF2-40B4-BE49-F238E27FC236}">
                <a16:creationId xmlns:a16="http://schemas.microsoft.com/office/drawing/2014/main" id="{3B476F9A-F91D-42B4-95D2-C0699AA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8BCCE42-105A-4B3E-BE8E-9AA0E7B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고객 과업은 실제 코드로 끝까지 재현됩니다</a:t>
            </a:r>
          </a:p>
        </p:txBody>
      </p:sp>
      <p:cxnSp>
        <p:nvCxnSpPr>
          <p:cNvPr id="20" name="header-rule-11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DDC74CE2-E41A-4C1B-82ED-C4C50A7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DE02647F-CEA2-4A36-8206-60D0F9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C854A6FC-3446-4699-AC31-60FFE03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17/17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221E206-3E3C-4165-A6CA-2C6B57C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고객 과업</a:t>
            </a:r>
          </a:p>
        </p:txBody>
      </p:sp>
      <p:sp>
        <p:nvSpPr>
          <p:cNvPr id="8" name="metric-copy-0">
            <a:extLst xmlns:a="http://schemas.openxmlformats.org/drawingml/2006/main">
              <a:ext uri="{FF2B5EF4-FFF2-40B4-BE49-F238E27FC236}">
                <a16:creationId xmlns:a16="http://schemas.microsoft.com/office/drawing/2014/main" id="{838018E6-EA14-4C3B-8F46-C05B1BCE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거래 입력부터 상담 인계까지</a:t>
            </a:r>
          </a:p>
        </p:txBody>
      </p:sp>
      <p:sp>
        <p:nvSpPr>
          <p:cNvPr id="9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31265C77-A712-4F70-8846-60E0FD9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C934802D-DACC-4B93-A93D-4109F55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58/58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6BD08C3-F3C4-486F-9E17-01CF46A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구조화 검증</a:t>
            </a:r>
          </a:p>
        </p:txBody>
      </p:sp>
      <p:sp>
        <p:nvSpPr>
          <p:cNvPr id="12" name="metric-copy-1">
            <a:extLst xmlns:a="http://schemas.openxmlformats.org/drawingml/2006/main">
              <a:ext uri="{FF2B5EF4-FFF2-40B4-BE49-F238E27FC236}">
                <a16:creationId xmlns:a16="http://schemas.microsoft.com/office/drawing/2014/main" id="{4F4A88F3-5CAC-48AE-AB2C-8B6457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금액·상태·안전 경계</a:t>
            </a:r>
          </a:p>
        </p:txBody>
      </p:sp>
      <p:sp>
        <p:nvSpPr>
          <p:cNvPr id="13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44400884-0A5A-4347-873B-B3666AF9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352800" cy="30670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98537F8-A0D5-406F-882B-20143BD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819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4/4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57BD4D8-F6F7-4DDD-99E2-1885E4EA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브라우저 E2E</a:t>
            </a:r>
          </a:p>
        </p:txBody>
      </p:sp>
      <p:sp>
        <p:nvSpPr>
          <p:cNvPr id="16" name="metric-copy-2">
            <a:extLst xmlns:a="http://schemas.openxmlformats.org/drawingml/2006/main">
              <a:ext uri="{FF2B5EF4-FFF2-40B4-BE49-F238E27FC236}">
                <a16:creationId xmlns:a16="http://schemas.microsoft.com/office/drawing/2014/main" id="{920BFCEE-382E-4CA3-B083-301183A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화면 → API → 데이터 → 화면</a:t>
            </a:r>
          </a:p>
        </p:txBody>
      </p:sp>
      <p:sp>
        <p:nvSpPr>
          <p:cNvPr id="17" name="metric-foot">
            <a:extLst xmlns:a="http://schemas.openxmlformats.org/drawingml/2006/main">
              <a:ext uri="{FF2B5EF4-FFF2-40B4-BE49-F238E27FC236}">
                <a16:creationId xmlns:a16="http://schemas.microsoft.com/office/drawing/2014/main" id="{9F943D87-61E2-46C3-8670-3EE4084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회귀 기준: Python 676 passed · React 23 passed · Capability 18/22</a:t>
            </a:r>
          </a:p>
        </p:txBody>
      </p:sp>
    </p:spTree>
    <p:extLst>
      <p:ext uri="{BB962C8B-B14F-4D97-AF65-F5344CB8AC3E}">
        <p14:creationId xmlns:p14="http://schemas.microsoft.com/office/powerpoint/2010/main" val="1428753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2">
            <a:extLst xmlns:a="http://schemas.openxmlformats.org/drawingml/2006/main">
              <a:ext uri="{FF2B5EF4-FFF2-40B4-BE49-F238E27FC236}">
                <a16:creationId xmlns:a16="http://schemas.microsoft.com/office/drawing/2014/main" id="{7E543B59-C341-46CE-B3BB-385DF7C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GOVERNANCE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BCE6283-5DD7-4669-BD3A-70D705B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모르는 조건을 확정하지 않는 금융 AI</a:t>
            </a:r>
          </a:p>
        </p:txBody>
      </p:sp>
      <p:cxnSp>
        <p:nvCxnSpPr>
          <p:cNvPr id="19" name="header-rule-12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E9404565-7BF4-4F94-9E1E-4F81234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cxnSp>
        <p:nvCxnSpPr>
          <p:cNvPr id="21" name="status-line"/>
          <p:cNvCxnSpPr/>
          <p:nvPr/>
        </p:nvCxnSpPr>
        <p:spPr>
          <a:xfrm xmlns:a="http://schemas.openxmlformats.org/drawingml/2006/main">
            <a:off x="1885950" y="3495675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5"/>
            </a:solidFill>
            <a:prstDash val="solid"/>
          </a:ln>
        </p:spPr>
      </p:cxnSp>
      <p:sp>
        <p:nvSpPr>
          <p:cNvPr id="6" name="status-dot-0">
            <a:extLst xmlns:a="http://schemas.openxmlformats.org/drawingml/2006/main">
              <a:ext uri="{FF2B5EF4-FFF2-40B4-BE49-F238E27FC236}">
                <a16:creationId xmlns:a16="http://schemas.microsoft.com/office/drawing/2014/main" id="{42567884-D7F6-4CC0-8E4E-80B8D54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label-0">
            <a:extLst xmlns:a="http://schemas.openxmlformats.org/drawingml/2006/main">
              <a:ext uri="{FF2B5EF4-FFF2-40B4-BE49-F238E27FC236}">
                <a16:creationId xmlns:a16="http://schemas.microsoft.com/office/drawing/2014/main" id="{AF9265AB-1BF2-4B23-9D17-6B1C243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CONFIRMED</a:t>
            </a:r>
          </a:p>
        </p:txBody>
      </p:sp>
      <p:sp>
        <p:nvSpPr>
          <p:cNvPr id="8" name="status-copy-0">
            <a:extLst xmlns:a="http://schemas.openxmlformats.org/drawingml/2006/main">
              <a:ext uri="{FF2B5EF4-FFF2-40B4-BE49-F238E27FC236}">
                <a16:creationId xmlns:a16="http://schemas.microsoft.com/office/drawing/2014/main" id="{85218768-2596-468F-88AC-28EC092A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확인된 사실·유효 출처</a:t>
            </a:r>
          </a:p>
        </p:txBody>
      </p:sp>
      <p:sp>
        <p:nvSpPr>
          <p:cNvPr id="9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964AE2E3-9FAE-4A87-A033-AC78144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A5245E77-C2F7-4CF5-A872-00EAFC7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INSUFFICIENT</a:t>
            </a:r>
          </a:p>
        </p:txBody>
      </p:sp>
      <p:sp>
        <p:nvSpPr>
          <p:cNvPr id="11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22AD9E45-1458-419B-B6C0-66E9B9BC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정보 부족·미지원 입력</a:t>
            </a:r>
          </a:p>
        </p:txBody>
      </p:sp>
      <p:sp>
        <p:nvSpPr>
          <p:cNvPr id="12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AED3CE8C-522F-4C45-9835-6C36E2DA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2A5DEB72-7714-405B-A35B-E9A6904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EXPERT REVIEW</a:t>
            </a:r>
          </a:p>
        </p:txBody>
      </p:sp>
      <p:sp>
        <p:nvSpPr>
          <p:cNvPr id="14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267A506E-842B-4DDA-A304-D19C065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draft 규칙·외부 승인</a:t>
            </a:r>
          </a:p>
        </p:txBody>
      </p:sp>
      <p:sp>
        <p:nvSpPr>
          <p:cNvPr id="15" name="status-band">
            <a:extLst xmlns:a="http://schemas.openxmlformats.org/drawingml/2006/main">
              <a:ext uri="{FF2B5EF4-FFF2-40B4-BE49-F238E27FC236}">
                <a16:creationId xmlns:a16="http://schemas.microsoft.com/office/drawing/2014/main" id="{00E27685-5AC0-494F-BCBA-814C8DB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86350"/>
            <a:ext cx="8915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16" name="status-band-text">
            <a:extLst xmlns:a="http://schemas.openxmlformats.org/drawingml/2006/main">
              <a:ext uri="{FF2B5EF4-FFF2-40B4-BE49-F238E27FC236}">
                <a16:creationId xmlns:a16="http://schemas.microsoft.com/office/drawing/2014/main" id="{682D9DD7-DBFE-40BB-98D2-6C6A2EA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95900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승인은 제품 일정의 외부 게이트이며, 우회하지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962071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13">
            <a:extLst xmlns:a="http://schemas.openxmlformats.org/drawingml/2006/main">
              <a:ext uri="{FF2B5EF4-FFF2-40B4-BE49-F238E27FC236}">
                <a16:creationId xmlns:a16="http://schemas.microsoft.com/office/drawing/2014/main" id="{4B44D3DF-5BF1-42A3-B34C-4657E639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KB LINKAGE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ADA3D4BB-D3ED-4D97-9DB3-3B65FBC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현재는 수동 인계, 향후에는 KB Adapter</a:t>
            </a:r>
          </a:p>
        </p:txBody>
      </p:sp>
      <p:cxnSp>
        <p:nvCxnSpPr>
          <p:cNvPr id="18" name="header-rule-13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017A29E8-B512-48CF-BAFA-D03C08A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258EAB41-0001-4AC3-A3A1-68BC2349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6" name="today-box">
            <a:extLst xmlns:a="http://schemas.openxmlformats.org/drawingml/2006/main">
              <a:ext uri="{FF2B5EF4-FFF2-40B4-BE49-F238E27FC236}">
                <a16:creationId xmlns:a16="http://schemas.microsoft.com/office/drawing/2014/main" id="{C85EC697-9A26-44B5-A009-DAA2583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5529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2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day-title">
            <a:extLst xmlns:a="http://schemas.openxmlformats.org/drawingml/2006/main">
              <a:ext uri="{FF2B5EF4-FFF2-40B4-BE49-F238E27FC236}">
                <a16:creationId xmlns:a16="http://schemas.microsoft.com/office/drawing/2014/main" id="{784AF28B-606D-4280-A216-D521AA8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Manual Packet</a:t>
            </a:r>
          </a:p>
        </p:txBody>
      </p:sp>
      <p:sp>
        <p:nvSpPr>
          <p:cNvPr id="8" name="today-copy">
            <a:extLst xmlns:a="http://schemas.openxmlformats.org/drawingml/2006/main">
              <a:ext uri="{FF2B5EF4-FFF2-40B4-BE49-F238E27FC236}">
                <a16:creationId xmlns:a16="http://schemas.microsoft.com/office/drawing/2014/main" id="{962F01DD-6E8F-4166-B847-6198CA5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3943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Decision Passport 다운로드</a:t>
            </a:r>
          </a:p>
          <a:p xmlns:a="http://schemas.openxmlformats.org/drawingml/2006/main">
            <a:pPr algn="l"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사용자 동의 후 수동 전달</a:t>
            </a:r>
          </a:p>
          <a:p xmlns:a="http://schemas.openxmlformats.org/drawingml/2006/main">
            <a:pPr algn="l">
              <a:def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user_recorded_not_bank_verified</a:t>
            </a:r>
          </a:p>
        </p:txBody>
      </p:sp>
      <p:sp>
        <p:nvSpPr>
          <p:cNvPr id="9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2D5BEEE6-0122-4C62-A720-9FC8633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AFTER OFFICIAL CONTRACT</a:t>
            </a:r>
          </a:p>
        </p:txBody>
      </p:sp>
      <p:sp>
        <p:nvSpPr>
          <p:cNvPr id="10" name="future-box">
            <a:extLst xmlns:a="http://schemas.openxmlformats.org/drawingml/2006/main">
              <a:ext uri="{FF2B5EF4-FFF2-40B4-BE49-F238E27FC236}">
                <a16:creationId xmlns:a16="http://schemas.microsoft.com/office/drawing/2014/main" id="{C4198BDF-3F36-40D0-89D9-6E7D911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5529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E65ECAEE-4D7D-45EF-A50A-1867476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KB Adapter</a:t>
            </a:r>
          </a:p>
        </p:txBody>
      </p:sp>
      <p:sp>
        <p:nvSpPr>
          <p:cNvPr id="12" name="future-copy">
            <a:extLst xmlns:a="http://schemas.openxmlformats.org/drawingml/2006/main">
              <a:ext uri="{FF2B5EF4-FFF2-40B4-BE49-F238E27FC236}">
                <a16:creationId xmlns:a16="http://schemas.microsoft.com/office/drawing/2014/main" id="{08302E96-04C1-4D88-AF7D-CDD2182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3943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 인증·동의 계약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접수 callback·상태 reconciliation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은행 검증 상태 분리</a:t>
            </a:r>
          </a:p>
        </p:txBody>
      </p:sp>
      <p:cxnSp>
        <p:nvCxnSpPr>
          <p:cNvPr id="28" name="adapter-arrow"/>
          <p:cNvCxnSpPr/>
          <p:nvPr/>
        </p:nvCxnSpPr>
        <p:spPr>
          <a:xfrm xmlns:a="http://schemas.openxmlformats.org/drawingml/2006/main">
            <a:off x="5562600" y="36195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14" name="adapter-caption">
            <a:extLst xmlns:a="http://schemas.openxmlformats.org/drawingml/2006/main">
              <a:ext uri="{FF2B5EF4-FFF2-40B4-BE49-F238E27FC236}">
                <a16:creationId xmlns:a16="http://schemas.microsoft.com/office/drawing/2014/main" id="{C3D3F2BE-7E70-40AA-BFD7-91D7ABD7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05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도메인 계약은 유지</a:t>
            </a:r>
          </a:p>
        </p:txBody>
      </p:sp>
      <p:sp>
        <p:nvSpPr>
          <p:cNvPr id="15" name="adapter-bottom">
            <a:extLst xmlns:a="http://schemas.openxmlformats.org/drawingml/2006/main">
              <a:ext uri="{FF2B5EF4-FFF2-40B4-BE49-F238E27FC236}">
                <a16:creationId xmlns:a16="http://schemas.microsoft.com/office/drawing/2014/main" id="{2383CF0D-C4FB-4D42-BB21-1232277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권한을 넘지 않으면서도 연계 지점을 이미 모듈화했습니다.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572460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4">
            <a:extLst xmlns:a="http://schemas.openxmlformats.org/drawingml/2006/main">
              <a:ext uri="{FF2B5EF4-FFF2-40B4-BE49-F238E27FC236}">
                <a16:creationId xmlns:a16="http://schemas.microsoft.com/office/drawing/2014/main" id="{53F2F805-6DD4-45EC-9984-BC156F3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ADE8331-5552-42FF-A06B-4097E04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남은 공백은 파일럿과 도메인 승인으로 닫습니다</a:t>
            </a:r>
          </a:p>
        </p:txBody>
      </p:sp>
      <p:cxnSp>
        <p:nvCxnSpPr>
          <p:cNvPr id="26" name="header-rule-14"/>
          <p:cNvCxnSpPr/>
          <p:nvPr/>
        </p:nvCxnSpPr>
        <p:spPr>
          <a:xfrm xmlns:a="http://schemas.openxmlformats.org/drawingml/2006/main">
            <a:off x="533400" y="1266825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8C5"/>
            </a:solidFill>
            <a:prstDash val="solid"/>
          </a:ln>
        </p:spPr>
      </p:cxn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3AC127D2-80AC-421F-B6BA-14A82A1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cxnSp>
        <p:nvCxnSpPr>
          <p:cNvPr id="28" name="roadmap-line"/>
          <p:cNvCxnSpPr/>
          <p:nvPr/>
        </p:nvCxnSpPr>
        <p:spPr>
          <a:xfrm xmlns:a="http://schemas.openxmlformats.org/drawingml/2006/main">
            <a:off x="1219200" y="3600450"/>
            <a:ext cx="9734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C5"/>
            </a:solidFill>
            <a:prstDash val="solid"/>
          </a:ln>
        </p:spPr>
      </p:cxnSp>
      <p:sp>
        <p:nvSpPr>
          <p:cNvPr id="6" name="roadmap-dot-0">
            <a:extLst xmlns:a="http://schemas.openxmlformats.org/drawingml/2006/main">
              <a:ext uri="{FF2B5EF4-FFF2-40B4-BE49-F238E27FC236}">
                <a16:creationId xmlns:a16="http://schemas.microsoft.com/office/drawing/2014/main" id="{E9888BA8-0D36-4101-BE87-440FA92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phase-0">
            <a:extLst xmlns:a="http://schemas.openxmlformats.org/drawingml/2006/main">
              <a:ext uri="{FF2B5EF4-FFF2-40B4-BE49-F238E27FC236}">
                <a16:creationId xmlns:a16="http://schemas.microsoft.com/office/drawing/2014/main" id="{46C24396-BEF9-4164-B9AE-3159DF0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</p:txBody>
      </p:sp>
      <p:sp>
        <p:nvSpPr>
          <p:cNvPr id="8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10B3D713-5146-4ED5-88C0-21BB520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MVP·자동 검증</a:t>
            </a:r>
          </a:p>
        </p:txBody>
      </p:sp>
      <p:sp>
        <p:nvSpPr>
          <p:cNvPr id="9" name="roadmap-sub-0">
            <a:extLst xmlns:a="http://schemas.openxmlformats.org/drawingml/2006/main">
              <a:ext uri="{FF2B5EF4-FFF2-40B4-BE49-F238E27FC236}">
                <a16:creationId xmlns:a16="http://schemas.microsoft.com/office/drawing/2014/main" id="{27BD0114-70E4-4DEB-A3FC-1B02E21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17/17 과업</a:t>
            </a:r>
          </a:p>
        </p:txBody>
      </p:sp>
      <p:sp>
        <p:nvSpPr>
          <p:cNvPr id="10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A60FFDF9-39BE-47E3-9A85-449C355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phase-1">
            <a:extLst xmlns:a="http://schemas.openxmlformats.org/drawingml/2006/main">
              <a:ext uri="{FF2B5EF4-FFF2-40B4-BE49-F238E27FC236}">
                <a16:creationId xmlns:a16="http://schemas.microsoft.com/office/drawing/2014/main" id="{F2F12517-1524-4A18-A00E-9BE6AEC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6785F7FD-1F3D-4D01-87F4-A5FD00B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고객·RM 파일럿</a:t>
            </a:r>
          </a:p>
        </p:txBody>
      </p:sp>
      <p:sp>
        <p:nvSpPr>
          <p:cNvPr id="13" name="roadmap-sub-1">
            <a:extLst xmlns:a="http://schemas.openxmlformats.org/drawingml/2006/main">
              <a:ext uri="{FF2B5EF4-FFF2-40B4-BE49-F238E27FC236}">
                <a16:creationId xmlns:a16="http://schemas.microsoft.com/office/drawing/2014/main" id="{6A7311D0-F6E1-4FB9-A39D-841B184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시간·이해·유용성</a:t>
            </a:r>
          </a:p>
        </p:txBody>
      </p:sp>
      <p:sp>
        <p:nvSpPr>
          <p:cNvPr id="14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ED243F5D-5A12-4BBA-99D3-883B792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phase-2">
            <a:extLst xmlns:a="http://schemas.openxmlformats.org/drawingml/2006/main">
              <a:ext uri="{FF2B5EF4-FFF2-40B4-BE49-F238E27FC236}">
                <a16:creationId xmlns:a16="http://schemas.microsoft.com/office/drawing/2014/main" id="{0AE82C27-6C0F-46A3-AD52-54B961C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CFA823B1-02EA-4EAD-96A7-9EE8CC37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도메인 승인</a:t>
            </a:r>
          </a:p>
        </p:txBody>
      </p:sp>
      <p:sp>
        <p:nvSpPr>
          <p:cNvPr id="17" name="roadmap-sub-2">
            <a:extLst xmlns:a="http://schemas.openxmlformats.org/drawingml/2006/main">
              <a:ext uri="{FF2B5EF4-FFF2-40B4-BE49-F238E27FC236}">
                <a16:creationId xmlns:a16="http://schemas.microsoft.com/office/drawing/2014/main" id="{ACFF9642-19ED-4A96-A916-A56036A6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K-SURE·FX rulepack</a:t>
            </a:r>
          </a:p>
        </p:txBody>
      </p:sp>
      <p:sp>
        <p:nvSpPr>
          <p:cNvPr id="18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4379F3D8-73DA-46A1-AD2A-682ACF7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phase-3">
            <a:extLst xmlns:a="http://schemas.openxmlformats.org/drawingml/2006/main">
              <a:ext uri="{FF2B5EF4-FFF2-40B4-BE49-F238E27FC236}">
                <a16:creationId xmlns:a16="http://schemas.microsoft.com/office/drawing/2014/main" id="{11607D17-9E56-4825-BEA9-AEB8304E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DA07158-F4F5-4D19-A91C-3C5716D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공식 연계</a:t>
            </a:r>
          </a:p>
        </p:txBody>
      </p:sp>
      <p:sp>
        <p:nvSpPr>
          <p:cNvPr id="21" name="roadmap-sub-3">
            <a:extLst xmlns:a="http://schemas.openxmlformats.org/drawingml/2006/main">
              <a:ext uri="{FF2B5EF4-FFF2-40B4-BE49-F238E27FC236}">
                <a16:creationId xmlns:a16="http://schemas.microsoft.com/office/drawing/2014/main" id="{8D110C35-1884-402C-BF30-303CE79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KB Adapter</a:t>
            </a:r>
          </a:p>
        </p:txBody>
      </p:sp>
      <p:sp>
        <p:nvSpPr>
          <p:cNvPr id="22" name="roadmap-gate">
            <a:extLst xmlns:a="http://schemas.openxmlformats.org/drawingml/2006/main">
              <a:ext uri="{FF2B5EF4-FFF2-40B4-BE49-F238E27FC236}">
                <a16:creationId xmlns:a16="http://schemas.microsoft.com/office/drawing/2014/main" id="{F3D16C66-D7EB-4B59-9316-23E20908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72100"/>
            <a:ext cx="5219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8C8C5"/>
            </a:solidFill>
            <a:prstDash val="solid"/>
          </a:ln>
        </p:spPr>
      </p:sp>
      <p:sp>
        <p:nvSpPr>
          <p:cNvPr id="23" name="roadmap-gate-text">
            <a:extLst xmlns:a="http://schemas.openxmlformats.org/drawingml/2006/main">
              <a:ext uri="{FF2B5EF4-FFF2-40B4-BE49-F238E27FC236}">
                <a16:creationId xmlns:a16="http://schemas.microsoft.com/office/drawing/2014/main" id="{4E7E5139-DC42-49EC-A721-74230D3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8483C"/>
                </a:solidFill>
                <a:latin typeface="Malgun Gothic"/>
                <a:ea typeface="Malgun Gothic"/>
                <a:cs typeface="Malgun Gothic"/>
              </a:rPr>
              <a:t>출시 병목은 기술이 아니라 외부 승인과 실제 사용자 검증</a:t>
            </a:r>
          </a:p>
        </p:txBody>
      </p:sp>
    </p:spTree>
    <p:extLst>
      <p:ext uri="{BB962C8B-B14F-4D97-AF65-F5344CB8AC3E}">
        <p14:creationId xmlns:p14="http://schemas.microsoft.com/office/powerpoint/2010/main" val="11276422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6AA70AD1-1579-44A7-BF88-9868C5B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19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499C987-27F9-440E-BC62-1D86581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TRADEFLOW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05E96E8-3B77-4957-948B-5E8A00A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914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60,000의 문제를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USD 40,000의 결정으로</a:t>
            </a:r>
          </a:p>
        </p:txBody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52003D33-9AD5-482D-80B7-44CE517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보유 외화라는 결정 변수를 찾고,</a:t>
            </a:r>
          </a:p>
          <a:p xmlns:a="http://schemas.openxmlformats.org/drawingml/2006/main">
            <a:pPr algn="l">
              <a:def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변화와 근거를 금융상담 준비로 연결했습니다.</a:t>
            </a:r>
          </a:p>
        </p:txBody>
      </p:sp>
      <p:sp>
        <p:nvSpPr>
          <p:cNvPr id="5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D6373596-E2AA-4700-928F-4EFD2EE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TradeFlow는 무엇이 답을 바꾸는지 보여줍니다.</a:t>
            </a:r>
          </a:p>
        </p:txBody>
      </p:sp>
      <p:sp>
        <p:nvSpPr>
          <p:cNvPr id="6" name="close-page">
            <a:extLst xmlns:a="http://schemas.openxmlformats.org/drawingml/2006/main">
              <a:ext uri="{FF2B5EF4-FFF2-40B4-BE49-F238E27FC236}">
                <a16:creationId xmlns:a16="http://schemas.microsoft.com/office/drawing/2014/main" id="{E3829562-263E-46F0-91DB-9F5A9B2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6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8178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2026-08-02T14:04:43.5190000Z</dcterms:created>
  <dcterms:modified xsi:type="dcterms:W3CDTF">2026-08-02T14:04:43.5190000Z</dcterms:modified>
</coreProperties>
</file>